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utational Governance: A Judging Pitch for Optimizing Democracy" id="{B58C2374-C660-4FFF-9DD7-AFC235258A8F}">
          <p14:sldIdLst>
            <p14:sldId id="2561"/>
          </p14:sldIdLst>
        </p14:section>
        <p14:section name="Opening and Context" id="{7F478A71-B971-4F24-8E9F-DC8B3C48628F}">
          <p14:sldIdLst>
            <p14:sldId id="2562"/>
            <p14:sldId id="2563"/>
          </p14:sldIdLst>
        </p14:section>
        <p14:section name="The Core Problem" id="{D44F2CC7-B830-42E6-88A9-27892D2A9C63}">
          <p14:sldIdLst>
            <p14:sldId id="2564"/>
            <p14:sldId id="2565"/>
          </p14:sldIdLst>
        </p14:section>
        <p14:section name="Conceptual Shift" id="{E31323EB-7116-4B1F-9C78-54CD1D160A0B}">
          <p14:sldIdLst>
            <p14:sldId id="2566"/>
            <p14:sldId id="2567"/>
          </p14:sldIdLst>
        </p14:section>
        <p14:section name="Solution Part I" id="{DE7A872C-292B-4BC2-8C03-6CF3B06ED0C6}">
          <p14:sldIdLst>
            <p14:sldId id="2568"/>
            <p14:sldId id="2569"/>
          </p14:sldIdLst>
        </p14:section>
        <p14:section name="Solution Part II" id="{2D411A59-E8E0-48DC-B202-EE874D115CBD}">
          <p14:sldIdLst>
            <p14:sldId id="2570"/>
            <p14:sldId id="2571"/>
          </p14:sldIdLst>
        </p14:section>
        <p14:section name="System Architecture" id="{BA774B48-BE09-4A6A-BD0C-8C51A0A2F383}">
          <p14:sldIdLst>
            <p14:sldId id="2572"/>
            <p14:sldId id="2573"/>
          </p14:sldIdLst>
        </p14:section>
        <p14:section name="Empirical Evidence" id="{696774AD-C7CF-408B-8189-387956DEB32B}">
          <p14:sldIdLst>
            <p14:sldId id="2574"/>
            <p14:sldId id="2575"/>
          </p14:sldIdLst>
        </p14:section>
        <p14:section name="Impact and Implications" id="{E96258D4-60DE-42D0-812D-E3F82CE09CD2}">
          <p14:sldIdLst>
            <p14:sldId id="2576"/>
            <p14:sldId id="2577"/>
          </p14:sldIdLst>
        </p14:section>
        <p14:section name="Conclusion" id="{2BFE9E03-4CC3-457F-B3E9-3177EAB4C27B}">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9C582-EDC5-4947-8DC1-7C8D04BBDC40}" type="datetimeFigureOut">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DCFEF4-6591-43A8-92E6-EB9EB6F3779D}" type="slidenum">
              <a:t>‹#›</a:t>
            </a:fld>
            <a:endParaRPr lang="en-US"/>
          </a:p>
        </p:txBody>
      </p:sp>
    </p:spTree>
    <p:extLst>
      <p:ext uri="{BB962C8B-B14F-4D97-AF65-F5344CB8AC3E}">
        <p14:creationId xmlns:p14="http://schemas.microsoft.com/office/powerpoint/2010/main" val="181348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96C4CD0-6C7E-4E32-8D2C-A0C95F7A7D18}" type="slidenum">
              <a:t>1</a:t>
            </a:fld>
            <a:endParaRPr lang="en-US"/>
          </a:p>
        </p:txBody>
      </p:sp>
    </p:spTree>
    <p:extLst>
      <p:ext uri="{BB962C8B-B14F-4D97-AF65-F5344CB8AC3E}">
        <p14:creationId xmlns:p14="http://schemas.microsoft.com/office/powerpoint/2010/main" val="874863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Computational Governance: Framing the Core Idea</a:t>
            </a:r>
          </a:p>
        </p:txBody>
      </p:sp>
      <p:sp>
        <p:nvSpPr>
          <p:cNvPr id="4" name="Slide Number Placeholder 3"/>
          <p:cNvSpPr>
            <a:spLocks noGrp="1"/>
          </p:cNvSpPr>
          <p:nvPr>
            <p:ph type="sldNum" sz="quarter" idx="5"/>
          </p:nvPr>
        </p:nvSpPr>
        <p:spPr/>
        <p:txBody>
          <a:bodyPr/>
          <a:lstStyle/>
          <a:p>
            <a:fld id="{296C4CD0-6C7E-4E32-8D2C-A0C95F7A7D18}" type="slidenum">
              <a:t>2</a:t>
            </a:fld>
            <a:endParaRPr lang="en-US"/>
          </a:p>
        </p:txBody>
      </p:sp>
    </p:spTree>
    <p:extLst>
      <p:ext uri="{BB962C8B-B14F-4D97-AF65-F5344CB8AC3E}">
        <p14:creationId xmlns:p14="http://schemas.microsoft.com/office/powerpoint/2010/main" val="1654382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introduces a new way to think about democratic decision-making by framing governance as a computational optimization problem rather than a purely political or ideological process. The core motivation is simple but powerful: modern democracies struggle not because people lack opinions, but because current systems cannot measure, aggregate, and reconcile those opinions effectively. Voting systems typically reduce complex societal preferences into binary outcomes, which leads to polarization, inefficiency, and gridlock. This project, developed by Aarti S. Ravikumar, proposes Computational Governance as an interdisciplinary framework that combines mathematics, economics, and artificial intelligence to address this structural limitation. The approach treats public input as quantifiable data, applies formal optimization methods to search for compromise solutions, and produces outcomes that maximize overall societal utility while respecting constraints. Rather than replacing democratic institutions, the system is designed to augment them with transparent, interpretable tools that improve decision quality. This opening sets the stage for why such a shift is necessary now, particularly in an era of increasing polarization, misinformation, and declining public trust. By the end of the presentation, the audience will see how the proposed system not only identifies better policy outcomes in simulations, but also provides a scalable, ethical framework that could be applied in real-world governance settings. The key takeaway is that democracy does not need to be abandoned or automated away; instead, it can be strengthened by borrowing rigor from engineering and economics to better align outcomes with collective well-being.</a:t>
            </a:r>
          </a:p>
        </p:txBody>
      </p:sp>
      <p:sp>
        <p:nvSpPr>
          <p:cNvPr id="4" name="Slide Number Placeholder 3"/>
          <p:cNvSpPr>
            <a:spLocks noGrp="1"/>
          </p:cNvSpPr>
          <p:nvPr>
            <p:ph type="sldNum" sz="quarter" idx="5"/>
          </p:nvPr>
        </p:nvSpPr>
        <p:spPr/>
        <p:txBody>
          <a:bodyPr/>
          <a:lstStyle/>
          <a:p>
            <a:fld id="{296C4CD0-6C7E-4E32-8D2C-A0C95F7A7D18}" type="slidenum">
              <a:t>3</a:t>
            </a:fld>
            <a:endParaRPr lang="en-US"/>
          </a:p>
        </p:txBody>
      </p:sp>
    </p:spTree>
    <p:extLst>
      <p:ext uri="{BB962C8B-B14F-4D97-AF65-F5344CB8AC3E}">
        <p14:creationId xmlns:p14="http://schemas.microsoft.com/office/powerpoint/2010/main" val="1737004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Traditional Voting Systems Fail</a:t>
            </a:r>
          </a:p>
        </p:txBody>
      </p:sp>
      <p:sp>
        <p:nvSpPr>
          <p:cNvPr id="4" name="Slide Number Placeholder 3"/>
          <p:cNvSpPr>
            <a:spLocks noGrp="1"/>
          </p:cNvSpPr>
          <p:nvPr>
            <p:ph type="sldNum" sz="quarter" idx="5"/>
          </p:nvPr>
        </p:nvSpPr>
        <p:spPr/>
        <p:txBody>
          <a:bodyPr/>
          <a:lstStyle/>
          <a:p>
            <a:fld id="{296C4CD0-6C7E-4E32-8D2C-A0C95F7A7D18}" type="slidenum">
              <a:t>4</a:t>
            </a:fld>
            <a:endParaRPr lang="en-US"/>
          </a:p>
        </p:txBody>
      </p:sp>
    </p:spTree>
    <p:extLst>
      <p:ext uri="{BB962C8B-B14F-4D97-AF65-F5344CB8AC3E}">
        <p14:creationId xmlns:p14="http://schemas.microsoft.com/office/powerpoint/2010/main" val="1998530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Traditional democratic systems rely heavily on majority voting, which captures the direction of preferences but ignores their intensity. This creates a fundamental problem: a large group that cares weakly about an issue can consistently override a smaller group that cares deeply, even when the latter faces serious consequences. As a result, policies that appear democratically legitimate may still be inefficient or harmful in practice. This structure also incentivizes political polarization, since winning requires mobilizing narrow majorities rather than finding solutions that work reasonably well for most people. Another major limitation is that voting outcomes provide no insight into trade-offs, priorities, or acceptable compromises. Policymakers are left guessing which parts of a policy matter most to constituents, and citizens often feel unheard when nuanced preferences are flattened into yes-or-no choices. These issues are not merely political; they are structural and mathematical in nature. From a systems perspective, current voting mechanisms discard valuable information that could be used to improve outcomes. This project identifies preference measurement as the root problem and argues that without addressing it, reforms at the surface level will continue to fail. By clearly articulating why existing systems struggle, this slide motivates the need for a fundamentally different approach—one that can capture intensity, support compromise, and reduce zero-sum dynamics without undermining democratic participation.</a:t>
            </a:r>
          </a:p>
        </p:txBody>
      </p:sp>
      <p:sp>
        <p:nvSpPr>
          <p:cNvPr id="4" name="Slide Number Placeholder 3"/>
          <p:cNvSpPr>
            <a:spLocks noGrp="1"/>
          </p:cNvSpPr>
          <p:nvPr>
            <p:ph type="sldNum" sz="quarter" idx="5"/>
          </p:nvPr>
        </p:nvSpPr>
        <p:spPr/>
        <p:txBody>
          <a:bodyPr/>
          <a:lstStyle/>
          <a:p>
            <a:fld id="{296C4CD0-6C7E-4E32-8D2C-A0C95F7A7D18}" type="slidenum">
              <a:t>5</a:t>
            </a:fld>
            <a:endParaRPr lang="en-US"/>
          </a:p>
        </p:txBody>
      </p:sp>
    </p:spTree>
    <p:extLst>
      <p:ext uri="{BB962C8B-B14F-4D97-AF65-F5344CB8AC3E}">
        <p14:creationId xmlns:p14="http://schemas.microsoft.com/office/powerpoint/2010/main" val="410641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Reframing Governance as an Optimization Problem</a:t>
            </a:r>
          </a:p>
        </p:txBody>
      </p:sp>
      <p:sp>
        <p:nvSpPr>
          <p:cNvPr id="4" name="Slide Number Placeholder 3"/>
          <p:cNvSpPr>
            <a:spLocks noGrp="1"/>
          </p:cNvSpPr>
          <p:nvPr>
            <p:ph type="sldNum" sz="quarter" idx="5"/>
          </p:nvPr>
        </p:nvSpPr>
        <p:spPr/>
        <p:txBody>
          <a:bodyPr/>
          <a:lstStyle/>
          <a:p>
            <a:fld id="{296C4CD0-6C7E-4E32-8D2C-A0C95F7A7D18}" type="slidenum">
              <a:t>6</a:t>
            </a:fld>
            <a:endParaRPr lang="en-US"/>
          </a:p>
        </p:txBody>
      </p:sp>
    </p:spTree>
    <p:extLst>
      <p:ext uri="{BB962C8B-B14F-4D97-AF65-F5344CB8AC3E}">
        <p14:creationId xmlns:p14="http://schemas.microsoft.com/office/powerpoint/2010/main" val="2106920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central conceptual shift in this project is to treat governance as an optimization problem rather than a winner-takes-all contest. In engineering and economics, complex systems are routinely optimized under constraints to achieve the best overall performance. This project applies the same mindset to democratic decision-making. Instead of asking which option wins the most votes, the system asks which option maximizes total societal utility while respecting political, legal, and ethical boundaries. This reframing allows for trade-offs to be made explicit and evaluated quantitatively. Importantly, it does not assume that everyone must be made equally happy; rather, it seeks outcomes where gains to one group do not come at disproportionate losses to another. This aligns with the concept of Pareto efficiency, a foundational idea in economics. By formalizing preferences and constraints, governance becomes a problem that can be analyzed, simulated, and improved over time. This slide explains why optimization is a natural fit for democratic systems and how it opens the door to solutions that are both more transparent and more effective. It also emphasizes that human values remain central: algorithms do not decide what society should value, but they help process information more fairly once those values are expressed.</a:t>
            </a:r>
          </a:p>
        </p:txBody>
      </p:sp>
      <p:sp>
        <p:nvSpPr>
          <p:cNvPr id="4" name="Slide Number Placeholder 3"/>
          <p:cNvSpPr>
            <a:spLocks noGrp="1"/>
          </p:cNvSpPr>
          <p:nvPr>
            <p:ph type="sldNum" sz="quarter" idx="5"/>
          </p:nvPr>
        </p:nvSpPr>
        <p:spPr/>
        <p:txBody>
          <a:bodyPr/>
          <a:lstStyle/>
          <a:p>
            <a:fld id="{296C4CD0-6C7E-4E32-8D2C-A0C95F7A7D18}" type="slidenum">
              <a:t>7</a:t>
            </a:fld>
            <a:endParaRPr lang="en-US"/>
          </a:p>
        </p:txBody>
      </p:sp>
    </p:spTree>
    <p:extLst>
      <p:ext uri="{BB962C8B-B14F-4D97-AF65-F5344CB8AC3E}">
        <p14:creationId xmlns:p14="http://schemas.microsoft.com/office/powerpoint/2010/main" val="133303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Pareto Legislative Engine</a:t>
            </a:r>
          </a:p>
        </p:txBody>
      </p:sp>
      <p:sp>
        <p:nvSpPr>
          <p:cNvPr id="4" name="Slide Number Placeholder 3"/>
          <p:cNvSpPr>
            <a:spLocks noGrp="1"/>
          </p:cNvSpPr>
          <p:nvPr>
            <p:ph type="sldNum" sz="quarter" idx="5"/>
          </p:nvPr>
        </p:nvSpPr>
        <p:spPr/>
        <p:txBody>
          <a:bodyPr/>
          <a:lstStyle/>
          <a:p>
            <a:fld id="{296C4CD0-6C7E-4E32-8D2C-A0C95F7A7D18}" type="slidenum">
              <a:t>8</a:t>
            </a:fld>
            <a:endParaRPr lang="en-US"/>
          </a:p>
        </p:txBody>
      </p:sp>
    </p:spTree>
    <p:extLst>
      <p:ext uri="{BB962C8B-B14F-4D97-AF65-F5344CB8AC3E}">
        <p14:creationId xmlns:p14="http://schemas.microsoft.com/office/powerpoint/2010/main" val="738520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first major component of the proposed system is the Pareto Legislative Engine (PLE). The PLE is designed to measure preference intensity using quadratic voting and then compute compromise solutions that are Pareto-efficient. In quadratic voting, participants are given a limited budget of voice credits and can allocate more votes to issues they care deeply about, but at an increasing cost. This discourages strategic exaggeration and forces individuals to prioritize what truly matters to them. The resulting data provides a much richer picture of public preferences than traditional polls or elections. The PLE then uses this information as input to an optimization process that searches for policy configurations where no group can be made better off without making another group worse off beyond acceptable limits. This approach is grounded in mechanism design, a field recognized by the Nobel Prize in Economic Sciences. The key innovation is scaling these ideas to a legislative context and integrating them into a practical, automated pipeline. This slide explains how the PLE works conceptually and why it represents a meaningful advancement over existing participatory tools.</a:t>
            </a:r>
          </a:p>
        </p:txBody>
      </p:sp>
      <p:sp>
        <p:nvSpPr>
          <p:cNvPr id="4" name="Slide Number Placeholder 3"/>
          <p:cNvSpPr>
            <a:spLocks noGrp="1"/>
          </p:cNvSpPr>
          <p:nvPr>
            <p:ph type="sldNum" sz="quarter" idx="5"/>
          </p:nvPr>
        </p:nvSpPr>
        <p:spPr/>
        <p:txBody>
          <a:bodyPr/>
          <a:lstStyle/>
          <a:p>
            <a:fld id="{296C4CD0-6C7E-4E32-8D2C-A0C95F7A7D18}" type="slidenum">
              <a:t>9</a:t>
            </a:fld>
            <a:endParaRPr lang="en-US"/>
          </a:p>
        </p:txBody>
      </p:sp>
    </p:spTree>
    <p:extLst>
      <p:ext uri="{BB962C8B-B14F-4D97-AF65-F5344CB8AC3E}">
        <p14:creationId xmlns:p14="http://schemas.microsoft.com/office/powerpoint/2010/main" val="416555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Adaptive Trust Networks</a:t>
            </a:r>
          </a:p>
        </p:txBody>
      </p:sp>
      <p:sp>
        <p:nvSpPr>
          <p:cNvPr id="4" name="Slide Number Placeholder 3"/>
          <p:cNvSpPr>
            <a:spLocks noGrp="1"/>
          </p:cNvSpPr>
          <p:nvPr>
            <p:ph type="sldNum" sz="quarter" idx="5"/>
          </p:nvPr>
        </p:nvSpPr>
        <p:spPr/>
        <p:txBody>
          <a:bodyPr/>
          <a:lstStyle/>
          <a:p>
            <a:fld id="{296C4CD0-6C7E-4E32-8D2C-A0C95F7A7D18}" type="slidenum">
              <a:t>10</a:t>
            </a:fld>
            <a:endParaRPr lang="en-US"/>
          </a:p>
        </p:txBody>
      </p:sp>
    </p:spTree>
    <p:extLst>
      <p:ext uri="{BB962C8B-B14F-4D97-AF65-F5344CB8AC3E}">
        <p14:creationId xmlns:p14="http://schemas.microsoft.com/office/powerpoint/2010/main" val="887304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second major innovation is the Adaptive Trust Network (ATN), which addresses the problem of credibility in large-scale decision-making. In real-world governance, not all information sources are equally reliable, yet most systems treat all input as if it were interchangeable. The ATN introduces a dynamic trust layer that assigns credibility scores to participants based on factors such as expertise, historical accuracy, and consistency. These trust scores are not fixed; they update over time as predictions and recommendations are validated or contradicted by outcomes. This creates a self-correcting system that rewards reliability without permanently silencing dissent. When combined with preference data, trust-weighted input helps ensure that decisions reflect both what people care about and how well-supported different claims are. This slide emphasizes that the ATN is not about elitism or technocracy, but about transparency and accountability. By making trust explicit and measurable, the system reduces the influence of misinformation while remaining open to new voices and evidence.</a:t>
            </a:r>
          </a:p>
        </p:txBody>
      </p:sp>
      <p:sp>
        <p:nvSpPr>
          <p:cNvPr id="4" name="Slide Number Placeholder 3"/>
          <p:cNvSpPr>
            <a:spLocks noGrp="1"/>
          </p:cNvSpPr>
          <p:nvPr>
            <p:ph type="sldNum" sz="quarter" idx="5"/>
          </p:nvPr>
        </p:nvSpPr>
        <p:spPr/>
        <p:txBody>
          <a:bodyPr/>
          <a:lstStyle/>
          <a:p>
            <a:fld id="{296C4CD0-6C7E-4E32-8D2C-A0C95F7A7D18}" type="slidenum">
              <a:t>11</a:t>
            </a:fld>
            <a:endParaRPr lang="en-US"/>
          </a:p>
        </p:txBody>
      </p:sp>
    </p:spTree>
    <p:extLst>
      <p:ext uri="{BB962C8B-B14F-4D97-AF65-F5344CB8AC3E}">
        <p14:creationId xmlns:p14="http://schemas.microsoft.com/office/powerpoint/2010/main" val="2629844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Computational Governance Pipeline</a:t>
            </a:r>
          </a:p>
        </p:txBody>
      </p:sp>
      <p:sp>
        <p:nvSpPr>
          <p:cNvPr id="4" name="Slide Number Placeholder 3"/>
          <p:cNvSpPr>
            <a:spLocks noGrp="1"/>
          </p:cNvSpPr>
          <p:nvPr>
            <p:ph type="sldNum" sz="quarter" idx="5"/>
          </p:nvPr>
        </p:nvSpPr>
        <p:spPr/>
        <p:txBody>
          <a:bodyPr/>
          <a:lstStyle/>
          <a:p>
            <a:fld id="{296C4CD0-6C7E-4E32-8D2C-A0C95F7A7D18}" type="slidenum">
              <a:t>12</a:t>
            </a:fld>
            <a:endParaRPr lang="en-US"/>
          </a:p>
        </p:txBody>
      </p:sp>
    </p:spTree>
    <p:extLst>
      <p:ext uri="{BB962C8B-B14F-4D97-AF65-F5344CB8AC3E}">
        <p14:creationId xmlns:p14="http://schemas.microsoft.com/office/powerpoint/2010/main" val="1297010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brings together the previous components into a single, coherent pipeline. The system begins with quadratic voting, where citizens express both direction and intensity of preferences. These inputs then pass through the Adaptive Trust Network, which adjusts influence based on credibility and past performance. Finally, the optimization engine processes the trust-weighted preferences to identify policy outcomes that maximize total utility under defined constraints. The output is not a single forced decision, but a ranked set of compromise options that policymakers and the public can inspect and debate. This architecture emphasizes transparency at every stage: inputs, transformations, and outputs are all visible and explainable. By structuring governance as a pipeline, the system becomes modular, testable, and improvable over time. This slide helps judges understand that the project is not just a theoretical idea, but a systems-level design that could realistically be implemented and evaluated in stages.</a:t>
            </a:r>
          </a:p>
        </p:txBody>
      </p:sp>
      <p:sp>
        <p:nvSpPr>
          <p:cNvPr id="4" name="Slide Number Placeholder 3"/>
          <p:cNvSpPr>
            <a:spLocks noGrp="1"/>
          </p:cNvSpPr>
          <p:nvPr>
            <p:ph type="sldNum" sz="quarter" idx="5"/>
          </p:nvPr>
        </p:nvSpPr>
        <p:spPr/>
        <p:txBody>
          <a:bodyPr/>
          <a:lstStyle/>
          <a:p>
            <a:fld id="{296C4CD0-6C7E-4E32-8D2C-A0C95F7A7D18}" type="slidenum">
              <a:t>13</a:t>
            </a:fld>
            <a:endParaRPr lang="en-US"/>
          </a:p>
        </p:txBody>
      </p:sp>
    </p:spTree>
    <p:extLst>
      <p:ext uri="{BB962C8B-B14F-4D97-AF65-F5344CB8AC3E}">
        <p14:creationId xmlns:p14="http://schemas.microsoft.com/office/powerpoint/2010/main" val="3388113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Simulation Results: PLE vs. Majority Voting</a:t>
            </a:r>
          </a:p>
        </p:txBody>
      </p:sp>
      <p:sp>
        <p:nvSpPr>
          <p:cNvPr id="4" name="Slide Number Placeholder 3"/>
          <p:cNvSpPr>
            <a:spLocks noGrp="1"/>
          </p:cNvSpPr>
          <p:nvPr>
            <p:ph type="sldNum" sz="quarter" idx="5"/>
          </p:nvPr>
        </p:nvSpPr>
        <p:spPr/>
        <p:txBody>
          <a:bodyPr/>
          <a:lstStyle/>
          <a:p>
            <a:fld id="{296C4CD0-6C7E-4E32-8D2C-A0C95F7A7D18}" type="slidenum">
              <a:t>14</a:t>
            </a:fld>
            <a:endParaRPr lang="en-US"/>
          </a:p>
        </p:txBody>
      </p:sp>
    </p:spTree>
    <p:extLst>
      <p:ext uri="{BB962C8B-B14F-4D97-AF65-F5344CB8AC3E}">
        <p14:creationId xmlns:p14="http://schemas.microsoft.com/office/powerpoint/2010/main" val="947957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demonstrate the value of the proposed approach, the project includes a simple but illustrative simulation comparing majority voting with the Pareto Legislative Engine. In the simulation, two groups have different preferred policy outcomes, each with a utility curve that peaks at a different point. Majority voting selects the option favored by the larger group, even though this choice leaves significant potential utility unrealized. In contrast, the PLE identifies a compromise point between the two peaks that maximizes total combined utility. This result highlights a key insight: majority rule does not necessarily produce the best outcome for society as a whole. While the simulation is intentionally simple, it captures a dynamic that appears frequently in real politics. This slide explains how the simulation was set up, what assumptions were made, and why the results matter. It also clarifies that the purpose is not to claim definitive empirical proof, but to provide evidence that the framework behaves as intended and outperforms traditional methods under controlled conditions.</a:t>
            </a:r>
          </a:p>
        </p:txBody>
      </p:sp>
      <p:sp>
        <p:nvSpPr>
          <p:cNvPr id="4" name="Slide Number Placeholder 3"/>
          <p:cNvSpPr>
            <a:spLocks noGrp="1"/>
          </p:cNvSpPr>
          <p:nvPr>
            <p:ph type="sldNum" sz="quarter" idx="5"/>
          </p:nvPr>
        </p:nvSpPr>
        <p:spPr/>
        <p:txBody>
          <a:bodyPr/>
          <a:lstStyle/>
          <a:p>
            <a:fld id="{296C4CD0-6C7E-4E32-8D2C-A0C95F7A7D18}" type="slidenum">
              <a:t>15</a:t>
            </a:fld>
            <a:endParaRPr lang="en-US"/>
          </a:p>
        </p:txBody>
      </p:sp>
    </p:spTree>
    <p:extLst>
      <p:ext uri="{BB962C8B-B14F-4D97-AF65-F5344CB8AC3E}">
        <p14:creationId xmlns:p14="http://schemas.microsoft.com/office/powerpoint/2010/main" val="3703161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Reducing Polarization and Improving Decisions</a:t>
            </a:r>
          </a:p>
        </p:txBody>
      </p:sp>
      <p:sp>
        <p:nvSpPr>
          <p:cNvPr id="4" name="Slide Number Placeholder 3"/>
          <p:cNvSpPr>
            <a:spLocks noGrp="1"/>
          </p:cNvSpPr>
          <p:nvPr>
            <p:ph type="sldNum" sz="quarter" idx="5"/>
          </p:nvPr>
        </p:nvSpPr>
        <p:spPr/>
        <p:txBody>
          <a:bodyPr/>
          <a:lstStyle/>
          <a:p>
            <a:fld id="{296C4CD0-6C7E-4E32-8D2C-A0C95F7A7D18}" type="slidenum">
              <a:t>16</a:t>
            </a:fld>
            <a:endParaRPr lang="en-US"/>
          </a:p>
        </p:txBody>
      </p:sp>
    </p:spTree>
    <p:extLst>
      <p:ext uri="{BB962C8B-B14F-4D97-AF65-F5344CB8AC3E}">
        <p14:creationId xmlns:p14="http://schemas.microsoft.com/office/powerpoint/2010/main" val="1351021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broader impact of this work lies in its potential to reduce polarization and improve trust in democratic institutions. By changing the incentive structure from winning to optimizing, the system discourages extreme positioning and rewards constructive compromise. Policymakers gain access to clearer signals about constituent priorities, while citizens gain confidence that their input is being used meaningfully. The framework is also highly scalable: it can be applied at different levels of governance, from local councils to national legislatures, and adapted to different political contexts. Beyond politics, the ideas presented here could influence how large organizations, cooperatives, and international bodies make decisions under conflicting interests. This slide emphasizes why the project matters beyond its technical details and why it represents a meaningful contribution to both social science and applied computing.</a:t>
            </a:r>
          </a:p>
        </p:txBody>
      </p:sp>
      <p:sp>
        <p:nvSpPr>
          <p:cNvPr id="4" name="Slide Number Placeholder 3"/>
          <p:cNvSpPr>
            <a:spLocks noGrp="1"/>
          </p:cNvSpPr>
          <p:nvPr>
            <p:ph type="sldNum" sz="quarter" idx="5"/>
          </p:nvPr>
        </p:nvSpPr>
        <p:spPr/>
        <p:txBody>
          <a:bodyPr/>
          <a:lstStyle/>
          <a:p>
            <a:fld id="{296C4CD0-6C7E-4E32-8D2C-A0C95F7A7D18}" type="slidenum">
              <a:t>17</a:t>
            </a:fld>
            <a:endParaRPr lang="en-US"/>
          </a:p>
        </p:txBody>
      </p:sp>
    </p:spTree>
    <p:extLst>
      <p:ext uri="{BB962C8B-B14F-4D97-AF65-F5344CB8AC3E}">
        <p14:creationId xmlns:p14="http://schemas.microsoft.com/office/powerpoint/2010/main" val="18062393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Making Democracy Measurable</a:t>
            </a:r>
          </a:p>
        </p:txBody>
      </p:sp>
      <p:sp>
        <p:nvSpPr>
          <p:cNvPr id="4" name="Slide Number Placeholder 3"/>
          <p:cNvSpPr>
            <a:spLocks noGrp="1"/>
          </p:cNvSpPr>
          <p:nvPr>
            <p:ph type="sldNum" sz="quarter" idx="5"/>
          </p:nvPr>
        </p:nvSpPr>
        <p:spPr/>
        <p:txBody>
          <a:bodyPr/>
          <a:lstStyle/>
          <a:p>
            <a:fld id="{296C4CD0-6C7E-4E32-8D2C-A0C95F7A7D18}" type="slidenum">
              <a:t>18</a:t>
            </a:fld>
            <a:endParaRPr lang="en-US"/>
          </a:p>
        </p:txBody>
      </p:sp>
    </p:spTree>
    <p:extLst>
      <p:ext uri="{BB962C8B-B14F-4D97-AF65-F5344CB8AC3E}">
        <p14:creationId xmlns:p14="http://schemas.microsoft.com/office/powerpoint/2010/main" val="2580082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presentation concludes by reinforcing the central message: democracy can be strengthened by making it more measurable, transparent, and optimization-driven. The Pareto Legislative Engine and Adaptive Trust Networks together form a coherent framework that addresses long-standing structural flaws in democratic decision-making. Rather than replacing human judgment, the system augments it with tools that clarify trade-offs and reveal better options. This closing slide summarizes the key contributions, reiterates the novelty of the approach, and leaves judges with a clear takeaway: this project reframes governance in a way that is both technically rigorous and socially meaningful. It invites further research, experimentation, and discussion, positioning the work not as a final answer, but as a foundation for a new class of democratic systems.</a:t>
            </a:r>
          </a:p>
        </p:txBody>
      </p:sp>
      <p:sp>
        <p:nvSpPr>
          <p:cNvPr id="4" name="Slide Number Placeholder 3"/>
          <p:cNvSpPr>
            <a:spLocks noGrp="1"/>
          </p:cNvSpPr>
          <p:nvPr>
            <p:ph type="sldNum" sz="quarter" idx="5"/>
          </p:nvPr>
        </p:nvSpPr>
        <p:spPr/>
        <p:txBody>
          <a:bodyPr/>
          <a:lstStyle/>
          <a:p>
            <a:fld id="{296C4CD0-6C7E-4E32-8D2C-A0C95F7A7D18}" type="slidenum">
              <a:t>19</a:t>
            </a:fld>
            <a:endParaRPr lang="en-US"/>
          </a:p>
        </p:txBody>
      </p:sp>
    </p:spTree>
    <p:extLst>
      <p:ext uri="{BB962C8B-B14F-4D97-AF65-F5344CB8AC3E}">
        <p14:creationId xmlns:p14="http://schemas.microsoft.com/office/powerpoint/2010/main" val="4152318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606196"/>
            <a:ext cx="4352927" cy="114227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2" y="606196"/>
            <a:ext cx="4352927" cy="1142277"/>
          </a:xfrm>
        </p:spPr>
        <p:txBody>
          <a:bodyPr vert="horz" lIns="91440" tIns="45720" rIns="91440" bIns="45720" rtlCol="0" anchor="t">
            <a:normAutofit/>
          </a:bodyPr>
          <a:lstStyle>
            <a:lvl1pPr marL="0" indent="0" algn="r">
              <a:lnSpc>
                <a:spcPct val="120000"/>
              </a:lnSpc>
              <a:spcBef>
                <a:spcPts val="0"/>
              </a:spcBef>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59722DCF-3C86-4CA9-A79C-7A01DC917267}" type="datetime1">
              <a:rPr lang="en-US" smtClean="0"/>
              <a:t>5/24/2026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 y="2132520"/>
            <a:ext cx="10972800" cy="411588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26029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92815CB-5A42-4381-B4B5-1F0A0AD684E0}"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555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4840225"/>
            <a:ext cx="10963658" cy="799655"/>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5845175"/>
            <a:ext cx="10963658" cy="365125"/>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26D2EC77-EDF2-486F-BC40-B49DAB22DB64}" type="datetime1">
              <a:rPr lang="en-US" smtClean="0"/>
              <a:t>5/24/2026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1" y="647700"/>
            <a:ext cx="10972800" cy="3808477"/>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0832940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530569" y="606195"/>
            <a:ext cx="4045735" cy="399859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530569" y="4870174"/>
            <a:ext cx="3755116" cy="1033669"/>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3464"/>
          </a:xfrm>
        </p:spPr>
        <p:txBody>
          <a:bodyPr anchor="ctr"/>
          <a:lstStyle>
            <a:lvl1pPr>
              <a:defRPr>
                <a:solidFill>
                  <a:schemeClr val="tx1"/>
                </a:solidFill>
                <a:effectLst/>
              </a:defRPr>
            </a:lvl1pPr>
          </a:lstStyle>
          <a:p>
            <a:fld id="{162E3648-85D4-4FD7-B855-79C521A61C61}" type="datetime1">
              <a:rPr lang="en-US" smtClean="0"/>
              <a:t>5/24/2026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3464"/>
          </a:xfrm>
        </p:spPr>
        <p:txBody>
          <a:bodyPr anchor="ctr"/>
          <a:lstStyle>
            <a:lvl1pPr algn="ctr">
              <a:defRPr/>
            </a:lvl1pPr>
          </a:lstStyle>
          <a:p>
            <a:pPr algn="ctr"/>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3464"/>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600" y="609600"/>
            <a:ext cx="6534582" cy="5638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solidFill>
                  <a:schemeClr val="bg1"/>
                </a:solidFill>
              </a:defRPr>
            </a:lvl1pPr>
          </a:lstStyle>
          <a:p>
            <a:r>
              <a:rPr lang="en-US"/>
              <a:t>   </a:t>
            </a:r>
          </a:p>
        </p:txBody>
      </p:sp>
    </p:spTree>
    <p:extLst>
      <p:ext uri="{BB962C8B-B14F-4D97-AF65-F5344CB8AC3E}">
        <p14:creationId xmlns:p14="http://schemas.microsoft.com/office/powerpoint/2010/main" val="7620038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anchor="ctr"/>
          <a:lstStyle>
            <a:lvl1pPr>
              <a:defRPr>
                <a:solidFill>
                  <a:schemeClr val="tx1"/>
                </a:solidFill>
                <a:effectLst/>
              </a:defRPr>
            </a:lvl1pPr>
          </a:lstStyle>
          <a:p>
            <a:fld id="{047E6C56-E35A-43C4-BAC8-C635905FE141}" type="datetime1">
              <a:rPr lang="en-US" smtClean="0"/>
              <a:t>5/24/2026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anchor="ct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anchor="ct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925422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371600"/>
            <a:ext cx="3892269" cy="3276599"/>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032606"/>
            <a:ext cx="3177209" cy="871237"/>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09600" y="322731"/>
            <a:ext cx="914400" cy="283464"/>
          </a:xfrm>
        </p:spPr>
        <p:txBody>
          <a:bodyPr anchor="ctr"/>
          <a:lstStyle/>
          <a:p>
            <a:fld id="{111FFCFE-B194-4E5A-862C-339E8FEE7136}" type="datetime1">
              <a:rPr lang="en-US" smtClean="0"/>
              <a:t>5/24/2026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514600" y="322731"/>
            <a:ext cx="7162800" cy="283464"/>
          </a:xfrm>
        </p:spPr>
        <p:txBody>
          <a:bodyPr anchor="ct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668000" y="322731"/>
            <a:ext cx="914399" cy="283464"/>
          </a:xfrm>
        </p:spPr>
        <p:txBody>
          <a:bodyPr anchor="ct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1371600"/>
            <a:ext cx="6470826"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8913777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371600"/>
            <a:ext cx="10049256" cy="3505200"/>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76800"/>
            <a:ext cx="7769354" cy="1371600"/>
          </a:xfrm>
        </p:spPr>
        <p:txBody>
          <a:bodyPr vert="horz" lIns="91440" tIns="45720" rIns="91440" bIns="45720" rtlCol="0" anchor="b">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1CEBACA-C806-48AD-B735-075EFFDC0FB5}" type="datetime1">
              <a:rPr lang="en-US" smtClean="0"/>
              <a:t>5/24/2026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851734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401420"/>
            <a:ext cx="9140954" cy="2836729"/>
          </a:xfrm>
        </p:spPr>
        <p:txBody>
          <a:bodyPr vert="horz" lIns="91440" tIns="45720" rIns="91440" bIns="45720" rtlCol="0" anchor="b">
            <a:normAutofit/>
          </a:bodyPr>
          <a:lstStyle>
            <a:lvl1pPr>
              <a:defRPr lang="en-US" sz="3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622197"/>
            <a:ext cx="7312153" cy="1014984"/>
          </a:xfrm>
        </p:spPr>
        <p:txBody>
          <a:bodyPr vert="horz" lIns="91440" tIns="45720" rIns="91440" bIns="45720" rtlCol="0">
            <a:normAutofit/>
          </a:bodyPr>
          <a:lstStyle>
            <a:lvl1pPr marL="0" indent="0">
              <a:buNone/>
              <a:defRPr lang="en-US" sz="2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1" y="322731"/>
            <a:ext cx="914400" cy="286869"/>
          </a:xfrm>
        </p:spPr>
        <p:txBody>
          <a:bodyPr/>
          <a:lstStyle/>
          <a:p>
            <a:fld id="{28F25336-016D-4162-B545-E54B089028A6}" type="datetime1">
              <a:rPr lang="en-US" smtClean="0"/>
              <a:t>5/24/2026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7649"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1904" y="322731"/>
            <a:ext cx="914400" cy="286869"/>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43336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71600"/>
            <a:ext cx="8229600" cy="2567855"/>
          </a:xfrm>
        </p:spPr>
        <p:txBody>
          <a:bodyPr anchor="b">
            <a:normAutofit/>
          </a:bodyPr>
          <a:lstStyle>
            <a:lvl1pPr algn="ctr">
              <a:defRPr sz="3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375642"/>
            <a:ext cx="7588155" cy="1029310"/>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CD4DBA1-4626-47FC-856E-159D7E28D490}" type="datetime1">
              <a:rPr lang="en-US" smtClean="0"/>
              <a:t>5/24/2026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20696" y="322731"/>
            <a:ext cx="7150608" cy="286869"/>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375951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830729"/>
          </a:xfrm>
        </p:spPr>
        <p:txBody>
          <a:bodyPr vert="horz" lIns="91440" tIns="45720" rIns="91440" bIns="45720" rtlCol="0" anchor="b">
            <a:normAutofit/>
          </a:bodyPr>
          <a:lstStyle>
            <a:lvl1pPr>
              <a:defRPr lang="en-US" sz="3200" dirty="0">
                <a:solidFill>
                  <a:schemeClr val="tx1"/>
                </a:solidFill>
              </a:defRPr>
            </a:lvl1pPr>
          </a:lstStyle>
          <a:p>
            <a:pPr lvl="0"/>
            <a:r>
              <a:rPr lang="en-US"/>
              <a:t>Section Header</a:t>
            </a:r>
          </a:p>
        </p:txBody>
      </p:sp>
      <p:sp>
        <p:nvSpPr>
          <p:cNvPr id="3" name="Date Placeholder 2">
            <a:extLst>
              <a:ext uri="{FF2B5EF4-FFF2-40B4-BE49-F238E27FC236}">
                <a16:creationId xmlns:a16="http://schemas.microsoft.com/office/drawing/2014/main" id="{171F2818-3D93-3C9A-E504-3D8A33F2BA9D}"/>
              </a:ext>
            </a:extLst>
          </p:cNvPr>
          <p:cNvSpPr>
            <a:spLocks noGrp="1"/>
          </p:cNvSpPr>
          <p:nvPr>
            <p:ph type="dt" sz="half" idx="10"/>
          </p:nvPr>
        </p:nvSpPr>
        <p:spPr/>
        <p:txBody>
          <a:bodyPr/>
          <a:lstStyle/>
          <a:p>
            <a:fld id="{98E2C3C3-8EE0-4646-AF47-12E3116D59C3}" type="datetime1">
              <a:rPr lang="en-US" smtClean="0"/>
              <a:t>5/24/2026</a:t>
            </a:fld>
            <a:endParaRPr lang="en-US"/>
          </a:p>
        </p:txBody>
      </p:sp>
      <p:sp>
        <p:nvSpPr>
          <p:cNvPr id="7" name="Footer Placeholder 6">
            <a:extLst>
              <a:ext uri="{FF2B5EF4-FFF2-40B4-BE49-F238E27FC236}">
                <a16:creationId xmlns:a16="http://schemas.microsoft.com/office/drawing/2014/main" id="{40C970B7-D89D-4042-9AC8-32C22BDD29A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7A35D86-D074-E057-C950-943CC0E1CBA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3609017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8066" y="1371600"/>
            <a:ext cx="8470605" cy="1041436"/>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D252E1C-7EB3-405E-81B2-32E332CACA0F}" type="datetime1">
              <a:rPr lang="en-US" smtClean="0"/>
              <a:t>5/24/2026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 y="2797083"/>
            <a:ext cx="8470605" cy="3451317"/>
          </a:xfrm>
        </p:spPr>
        <p:txBody>
          <a:bodyPr>
            <a:normAutofit/>
          </a:bodyPr>
          <a:lstStyle>
            <a:lvl1pPr marL="457200" indent="-457200">
              <a:buFont typeface="+mj-lt"/>
              <a:buAutoNum type="arabicPeriod"/>
              <a:defRPr sz="1400"/>
            </a:lvl1pPr>
            <a:lvl2pPr marL="685800" indent="-4572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6891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59795" y="1371600"/>
            <a:ext cx="5916508" cy="1052105"/>
          </a:xfrm>
        </p:spPr>
        <p:txBody>
          <a:bodyPr anchor="t">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09601" y="322731"/>
            <a:ext cx="914400" cy="283464"/>
          </a:xfrm>
        </p:spPr>
        <p:txBody>
          <a:bodyPr/>
          <a:lstStyle/>
          <a:p>
            <a:fld id="{1FE93670-5DDA-427C-9657-21A216413B90}" type="datetime1">
              <a:rPr lang="en-US" smtClean="0"/>
              <a:t>5/24/2026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09600" y="1371599"/>
            <a:ext cx="4663806"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59796" y="2807753"/>
            <a:ext cx="5916507" cy="3440647"/>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28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31" y="1371600"/>
            <a:ext cx="2441448" cy="4876800"/>
          </a:xfrm>
        </p:spPr>
        <p:txBody>
          <a:bodyPr anchor="t">
            <a:normAutofit/>
          </a:bodyPr>
          <a:lstStyle>
            <a:lvl1pPr>
              <a:defRPr sz="2400"/>
            </a:lvl1pPr>
          </a:lstStyle>
          <a:p>
            <a:r>
              <a:rPr lang="en-US"/>
              <a:t>Click to edit Master title style</a:t>
            </a:r>
          </a:p>
        </p:txBody>
      </p:sp>
      <p:sp>
        <p:nvSpPr>
          <p:cNvPr id="8" name="Date Placeholder 2">
            <a:extLst>
              <a:ext uri="{FF2B5EF4-FFF2-40B4-BE49-F238E27FC236}">
                <a16:creationId xmlns:a16="http://schemas.microsoft.com/office/drawing/2014/main" id="{4C796253-2EF8-E90A-A94F-8CFC6E39EE48}"/>
              </a:ext>
            </a:extLst>
          </p:cNvPr>
          <p:cNvSpPr>
            <a:spLocks noGrp="1"/>
          </p:cNvSpPr>
          <p:nvPr>
            <p:ph type="dt" sz="half" idx="10"/>
          </p:nvPr>
        </p:nvSpPr>
        <p:spPr>
          <a:xfrm>
            <a:off x="609601" y="322731"/>
            <a:ext cx="914400" cy="286869"/>
          </a:xfrm>
        </p:spPr>
        <p:txBody>
          <a:bodyPr/>
          <a:lstStyle/>
          <a:p>
            <a:fld id="{88F73B11-D0F5-4A08-A19E-C560E2C4116F}" type="datetime1">
              <a:rPr lang="en-US" smtClean="0"/>
              <a:t>5/24/2026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2514600" y="322731"/>
            <a:ext cx="7162800" cy="286869"/>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668000" y="322731"/>
            <a:ext cx="908304" cy="286869"/>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3460625" y="1371599"/>
            <a:ext cx="5272821" cy="487680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34856" y="1371600"/>
            <a:ext cx="2441448" cy="4876800"/>
          </a:xfrm>
        </p:spPr>
        <p:txBody>
          <a:bodyPr>
            <a:normAutofit/>
          </a:bodyPr>
          <a:lstStyle>
            <a:lvl1pPr marL="457200" indent="-4572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1304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32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761C04-CC91-4AAF-9006-A3A27BF33173}"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58842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8421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43291" y="1373986"/>
            <a:ext cx="3493858" cy="3456894"/>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05EDACB-E986-4E04-ADB1-8913384D68D3}"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373986"/>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492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C338E35-CB21-4D15-A87F-675D4C9EDCA4}"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22181" y="1389134"/>
            <a:ext cx="627922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647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371600"/>
            <a:ext cx="3496147" cy="4876800"/>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71CA9EE-AFE9-47E0-9F22-915E0A45E5AF}"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94872" y="1371600"/>
            <a:ext cx="7081431"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2361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3349754" cy="272145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7C504BF7-6B14-4333-B52B-ADBC1BCF47B5}"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43402" y="1371600"/>
            <a:ext cx="7232901"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6453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anchor="t">
            <a:normAutofit/>
          </a:bodyPr>
          <a:lstStyle>
            <a:lvl1pPr>
              <a:defRPr sz="2400"/>
            </a:lvl1pPr>
          </a:lstStyle>
          <a:p>
            <a:r>
              <a:rPr lang="en-US"/>
              <a:t>Click to edit Master title style</a:t>
            </a:r>
          </a:p>
        </p:txBody>
      </p:sp>
      <p:sp>
        <p:nvSpPr>
          <p:cNvPr id="7" name="Subtitle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C1C21BA4-3737-442B-A21A-11EEBBB51C57}"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6890431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50289" y="1371601"/>
            <a:ext cx="6632111" cy="60688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609600" y="322731"/>
            <a:ext cx="914400" cy="283464"/>
          </a:xfrm>
        </p:spPr>
        <p:txBody>
          <a:bodyPr/>
          <a:lstStyle/>
          <a:p>
            <a:fld id="{8EF3DE08-A0D1-4FD8-A862-5499266B124D}" type="datetime1">
              <a:rPr lang="en-US" smtClean="0"/>
              <a:t>5/24/2026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0661904" y="322731"/>
            <a:ext cx="914400" cy="283464"/>
          </a:xfrm>
        </p:spPr>
        <p:txBody>
          <a:bodyPr/>
          <a:lstStyle/>
          <a:p>
            <a:fld id="{AEAA3239-9EA4-4A65-A281-97F994456D9F}" type="slidenum">
              <a:rPr lang="en-US" smtClean="0"/>
              <a:t>‹#›</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0960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50290" y="2362534"/>
            <a:ext cx="6626014" cy="39015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68121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anchor="t"/>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a:lstStyle/>
          <a:p>
            <a:fld id="{6C5A15EF-D72C-40D5-8663-2C77F9B42EC1}" type="datetime1">
              <a:rPr lang="en-US" smtClean="0"/>
              <a:t>5/24/2026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4604950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0118" y="1371600"/>
            <a:ext cx="7172282" cy="606886"/>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609600" y="322731"/>
            <a:ext cx="914400" cy="283464"/>
          </a:xfrm>
        </p:spPr>
        <p:txBody>
          <a:bodyPr/>
          <a:lstStyle/>
          <a:p>
            <a:fld id="{D56F8A71-DDE0-43CA-81C3-EA9C4963E6AE}" type="datetime1">
              <a:rPr lang="en-US" smtClean="0"/>
              <a:t>5/24/2026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10118" y="2362534"/>
            <a:ext cx="7172282"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7509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E525A034-19B5-40C2-A08C-916D805B8A45}"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266009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04077" y="1371599"/>
            <a:ext cx="4667987" cy="606887"/>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ADD95619-B63B-77E6-BE04-262FAAD12CB4}"/>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2C5EE04-1B51-44BB-A7D3-16AEE79C4983}"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06805" y="2362535"/>
            <a:ext cx="4675596"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50141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anchor="t">
            <a:normAutofit/>
          </a:bodyPr>
          <a:lstStyle>
            <a:lvl1pPr>
              <a:defRPr sz="2400"/>
            </a:lvl1pPr>
          </a:lstStyle>
          <a:p>
            <a:r>
              <a:rPr lang="en-US"/>
              <a:t>Click to edit Master title style</a:t>
            </a:r>
          </a:p>
        </p:txBody>
      </p:sp>
      <p:sp>
        <p:nvSpPr>
          <p:cNvPr id="10" name="Date Placeholder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a:lstStyle>
            <a:lvl1pPr>
              <a:defRPr>
                <a:solidFill>
                  <a:schemeClr val="tx1"/>
                </a:solidFill>
              </a:defRPr>
            </a:lvl1pPr>
          </a:lstStyle>
          <a:p>
            <a:fld id="{E79D7598-9667-4FA1-B20E-133F7DF30C66}"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lvl1pPr>
              <a:defRPr>
                <a:solidFill>
                  <a:schemeClr val="tx1"/>
                </a:solidFill>
                <a:effectLs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0672094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1371599"/>
            <a:ext cx="3363514" cy="914401"/>
          </a:xfrm>
        </p:spPr>
        <p:txBody>
          <a:bodyPr anchor="t">
            <a:normAutofit/>
          </a:bodyPr>
          <a:lstStyle>
            <a:lvl1pPr>
              <a:defRPr sz="2400"/>
            </a:lvl1pPr>
          </a:lstStyle>
          <a:p>
            <a:r>
              <a:rPr lang="en-US"/>
              <a:t>Click to edit Master title style</a:t>
            </a:r>
          </a:p>
        </p:txBody>
      </p:sp>
      <p:sp>
        <p:nvSpPr>
          <p:cNvPr id="6" name="Date Placeholder 3">
            <a:extLst>
              <a:ext uri="{FF2B5EF4-FFF2-40B4-BE49-F238E27FC236}">
                <a16:creationId xmlns:a16="http://schemas.microsoft.com/office/drawing/2014/main" id="{CBA07C19-A01D-B0B9-930B-9E9E7D2E653C}"/>
              </a:ext>
            </a:extLst>
          </p:cNvPr>
          <p:cNvSpPr>
            <a:spLocks noGrp="1"/>
          </p:cNvSpPr>
          <p:nvPr>
            <p:ph type="dt" sz="half" idx="15"/>
          </p:nvPr>
        </p:nvSpPr>
        <p:spPr>
          <a:xfrm>
            <a:off x="609600" y="322731"/>
            <a:ext cx="914400" cy="283464"/>
          </a:xfrm>
        </p:spPr>
        <p:txBody>
          <a:bodyPr/>
          <a:lstStyle/>
          <a:p>
            <a:fld id="{E0F4D2D3-E754-452C-996E-A69280848F28}" type="datetime1">
              <a:rPr lang="en-US" smtClean="0"/>
              <a:t>5/24/2026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799"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903" y="322731"/>
            <a:ext cx="914400" cy="283464"/>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8887" y="2670047"/>
            <a:ext cx="3363513"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57228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anchor="t">
            <a:normAutofit/>
          </a:bodyPr>
          <a:lstStyle>
            <a:lvl1pPr>
              <a:defRPr sz="24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a:lstStyle/>
          <a:p>
            <a:fld id="{17A20D89-EAE3-437D-A562-62F383E1F1E4}" type="datetime1">
              <a:rPr lang="en-US" smtClean="0"/>
              <a:t>5/24/2026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516378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1371600"/>
            <a:ext cx="2699254" cy="1836503"/>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D481F196-B1D0-4451-BD57-0DCCBF9A6C9D}"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1"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1" y="322731"/>
            <a:ext cx="914400" cy="283464"/>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5697"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3147" y="3592150"/>
            <a:ext cx="2699254"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1128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E2505D57-3CC9-48CD-A7D7-2BE3E605D0A5}"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96750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7"/>
            <a:ext cx="4019522" cy="1236133"/>
          </a:xfrm>
        </p:spPr>
        <p:txBody>
          <a:bodyPr anchor="t">
            <a:normAutofit/>
          </a:bodyPr>
          <a:lstStyle>
            <a:lvl1pPr>
              <a:defRPr sz="2400"/>
            </a:lvl1pPr>
          </a:lstStyle>
          <a:p>
            <a:r>
              <a:rPr lang="en-US"/>
              <a:t>Click to edit Master title style</a:t>
            </a:r>
          </a:p>
        </p:txBody>
      </p:sp>
      <p:sp>
        <p:nvSpPr>
          <p:cNvPr id="12" name="Date Placeholder 4">
            <a:extLst>
              <a:ext uri="{FF2B5EF4-FFF2-40B4-BE49-F238E27FC236}">
                <a16:creationId xmlns:a16="http://schemas.microsoft.com/office/drawing/2014/main" id="{2D9E4C7C-63E4-6DA5-5108-15D4DA6D0607}"/>
              </a:ext>
            </a:extLst>
          </p:cNvPr>
          <p:cNvSpPr>
            <a:spLocks noGrp="1"/>
          </p:cNvSpPr>
          <p:nvPr>
            <p:ph type="dt" sz="half" idx="10"/>
          </p:nvPr>
        </p:nvSpPr>
        <p:spPr>
          <a:xfrm>
            <a:off x="609600" y="322731"/>
            <a:ext cx="914400" cy="286869"/>
          </a:xfrm>
        </p:spPr>
        <p:txBody>
          <a:bodyPr/>
          <a:lstStyle/>
          <a:p>
            <a:fld id="{3F2E167B-0B78-4B36-8A57-49085AADF134}"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3256619"/>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018927" y="5012267"/>
            <a:ext cx="6563474" cy="123613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00741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205330"/>
            <a:ext cx="3044954" cy="2019586"/>
          </a:xfrm>
        </p:spPr>
        <p:txBody>
          <a:bodyPr anchor="t">
            <a:normAutofit/>
          </a:bodyPr>
          <a:lstStyle>
            <a:lvl1pPr>
              <a:defRPr sz="2400"/>
            </a:lvl1pPr>
          </a:lstStyle>
          <a:p>
            <a:r>
              <a:rPr lang="en-US"/>
              <a:t>Click to edit Master title style</a:t>
            </a:r>
          </a:p>
        </p:txBody>
      </p:sp>
      <p:sp>
        <p:nvSpPr>
          <p:cNvPr id="9" name="Date Placeholder 4">
            <a:extLst>
              <a:ext uri="{FF2B5EF4-FFF2-40B4-BE49-F238E27FC236}">
                <a16:creationId xmlns:a16="http://schemas.microsoft.com/office/drawing/2014/main" id="{E59D63EA-A363-194D-0D29-EB63BC89E3E3}"/>
              </a:ext>
            </a:extLst>
          </p:cNvPr>
          <p:cNvSpPr>
            <a:spLocks noGrp="1"/>
          </p:cNvSpPr>
          <p:nvPr>
            <p:ph type="dt" sz="half" idx="10"/>
          </p:nvPr>
        </p:nvSpPr>
        <p:spPr>
          <a:xfrm>
            <a:off x="609600" y="322731"/>
            <a:ext cx="914400" cy="286869"/>
          </a:xfrm>
        </p:spPr>
        <p:txBody>
          <a:bodyPr/>
          <a:lstStyle/>
          <a:p>
            <a:fld id="{B9462E82-6E33-4AEF-AE7B-DF7C6F462D56}"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599" y="1371600"/>
            <a:ext cx="10966705" cy="244968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44358" y="4205331"/>
            <a:ext cx="7538041" cy="201958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12391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1390892"/>
            <a:ext cx="3021873" cy="1773540"/>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p>
            <a:fld id="{83BF6E84-C156-49F4-8E82-3F8A64544B22}"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1390891"/>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09599" y="4127577"/>
            <a:ext cx="10972801" cy="2120823"/>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840905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9"/>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001F9C0A-11C5-40F2-BD0E-27AA70E2625D}"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2"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512485"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26203170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60"/>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9CDFB84F-677F-480D-99C2-22BB3A82E4AD}"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7999" y="322731"/>
            <a:ext cx="914400" cy="283464"/>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501206"/>
            <a:ext cx="4931835"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31240" y="2501206"/>
            <a:ext cx="5651159" cy="3747194"/>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Tree>
    <p:extLst>
      <p:ext uri="{BB962C8B-B14F-4D97-AF65-F5344CB8AC3E}">
        <p14:creationId xmlns:p14="http://schemas.microsoft.com/office/powerpoint/2010/main" val="24529134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1C640349-FC90-47D1-9F46-4D34EA792223}"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4" name="Content Placeholder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51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587C5F-6A61-4864-9518-A5514F3191A0}"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42002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371600"/>
            <a:ext cx="3425954" cy="91745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5669B-9B51-4A21-90C8-BB2E110B3FD6}"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1" y="2673096"/>
            <a:ext cx="3429000" cy="3575303"/>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25359" y="1371600"/>
            <a:ext cx="715227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95685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524A6D49-9F84-4D2B-BCDD-C2F0AED64BFE}"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ancho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76804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275F2D28-3585-40CA-9EB9-F9971C1AA1E0}" type="datetime1">
              <a:rPr lang="en-US" smtClean="0"/>
              <a:t>5/24/2026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anchor="b"/>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52978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325034"/>
            <a:ext cx="9762068" cy="916369"/>
          </a:xfrm>
        </p:spPr>
        <p:txBody>
          <a:bodyPr anchor="b">
            <a:normAutofit/>
          </a:bodyPr>
          <a:lstStyle>
            <a:lvl1pPr algn="ctr">
              <a:lnSpc>
                <a:spcPct val="110000"/>
              </a:lnSpc>
              <a:defRPr sz="2400" b="1" i="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E73000B7-56E6-4A26-8487-963BD31161AF}" type="datetime1">
              <a:rPr lang="en-US" smtClean="0"/>
              <a:t>5/24/2026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09600" y="914400"/>
            <a:ext cx="10972800" cy="4105835"/>
          </a:xfrm>
        </p:spPr>
        <p:txBody>
          <a:bodyPr anchor="t">
            <a:normAutofit/>
          </a:bodyPr>
          <a:lstStyle>
            <a:lvl1pPr marL="0" indent="0" algn="ctr">
              <a:lnSpc>
                <a:spcPct val="90000"/>
              </a:lnSpc>
              <a:buNone/>
              <a:defRPr sz="27500" b="0">
                <a:solidFill>
                  <a:schemeClr val="tx1"/>
                </a:solidFill>
                <a:latin typeface="+mj-lt"/>
              </a:defRPr>
            </a:lvl1pPr>
          </a:lstStyle>
          <a:p>
            <a:pPr lvl="0"/>
            <a:r>
              <a:rPr lang="en-US"/>
              <a:t>##%</a:t>
            </a:r>
          </a:p>
        </p:txBody>
      </p:sp>
    </p:spTree>
    <p:extLst>
      <p:ext uri="{BB962C8B-B14F-4D97-AF65-F5344CB8AC3E}">
        <p14:creationId xmlns:p14="http://schemas.microsoft.com/office/powerpoint/2010/main" val="288766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a:lstStyle>
            <a:lvl1pPr>
              <a:lnSpc>
                <a:spcPct val="110000"/>
              </a:lnSpc>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6C671BD4-4E81-464B-A994-00077AEC80C3}" type="datetime1">
              <a:rPr lang="en-US" smtClean="0"/>
              <a:t>5/24/2026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11" name="Content Placeholder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anchor="t"/>
          <a:lstStyle>
            <a:lvl1pPr>
              <a:lnSpc>
                <a:spcPct val="90000"/>
              </a:lnSpc>
              <a:buNone/>
              <a:defRPr sz="30000"/>
            </a:lvl1pPr>
          </a:lstStyle>
          <a:p>
            <a:pPr lvl="0"/>
            <a:r>
              <a:rPr lang="en-US"/>
              <a:t>##%</a:t>
            </a:r>
          </a:p>
        </p:txBody>
      </p:sp>
    </p:spTree>
    <p:extLst>
      <p:ext uri="{BB962C8B-B14F-4D97-AF65-F5344CB8AC3E}">
        <p14:creationId xmlns:p14="http://schemas.microsoft.com/office/powerpoint/2010/main" val="28674821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78216DC3-F1E3-4679-A7A7-118C827BFDD8}" type="datetime1">
              <a:rPr lang="en-US" smtClean="0"/>
              <a:t>5/24/2026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8" name="Content Placeholder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anchor="t"/>
          <a:lstStyle>
            <a:lvl1pPr>
              <a:lnSpc>
                <a:spcPct val="90000"/>
              </a:lnSpc>
              <a:buNone/>
              <a:defRPr sz="27500"/>
            </a:lvl1pPr>
          </a:lstStyle>
          <a:p>
            <a:pPr lvl="0"/>
            <a:r>
              <a:rPr lang="en-US"/>
              <a:t>##%</a:t>
            </a:r>
          </a:p>
        </p:txBody>
      </p:sp>
    </p:spTree>
    <p:extLst>
      <p:ext uri="{BB962C8B-B14F-4D97-AF65-F5344CB8AC3E}">
        <p14:creationId xmlns:p14="http://schemas.microsoft.com/office/powerpoint/2010/main" val="1436868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latin typeface="+mn-lt"/>
              </a:defRPr>
            </a:lvl1pPr>
          </a:lstStyle>
          <a:p>
            <a:fld id="{2D412A9A-F88E-45C5-903F-2119D36A77A2}" type="datetime1">
              <a:rPr lang="en-US" smtClean="0"/>
              <a:t>5/24/2026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1371600"/>
            <a:ext cx="10972800" cy="4876800"/>
          </a:xfrm>
        </p:spPr>
        <p:txBody>
          <a:bodyPr anchor="t">
            <a:normAutofit/>
          </a:bodyPr>
          <a:lstStyle>
            <a:lvl1pPr marL="0" indent="0">
              <a:lnSpc>
                <a:spcPct val="90000"/>
              </a:lnSpc>
              <a:buNone/>
              <a:defRPr sz="3200" b="1" cap="all" baseline="0">
                <a:solidFill>
                  <a:schemeClr val="tx1"/>
                </a:solidFill>
                <a:latin typeface="+mj-lt"/>
              </a:defRPr>
            </a:lvl1pPr>
            <a:lvl2pPr marL="228600" indent="0">
              <a:lnSpc>
                <a:spcPct val="90000"/>
              </a:lnSpc>
              <a:buNone/>
              <a:defRPr sz="3200" b="1" cap="all" baseline="0">
                <a:solidFill>
                  <a:schemeClr val="tx1"/>
                </a:solidFill>
                <a:latin typeface="+mj-lt"/>
              </a:defRPr>
            </a:lvl2pPr>
            <a:lvl3pPr marL="457200" indent="0">
              <a:lnSpc>
                <a:spcPct val="90000"/>
              </a:lnSpc>
              <a:buNone/>
              <a:defRPr sz="3200" b="1" cap="all" baseline="0">
                <a:solidFill>
                  <a:schemeClr val="tx1"/>
                </a:solidFill>
                <a:latin typeface="+mj-lt"/>
              </a:defRPr>
            </a:lvl3pPr>
            <a:lvl4pPr marL="685800" indent="0">
              <a:lnSpc>
                <a:spcPct val="90000"/>
              </a:lnSpc>
              <a:buNone/>
              <a:defRPr sz="3200" b="1" cap="all" baseline="0">
                <a:solidFill>
                  <a:schemeClr val="tx1"/>
                </a:solidFill>
                <a:latin typeface="+mj-lt"/>
              </a:defRPr>
            </a:lvl4pPr>
            <a:lvl5pPr marL="914400" indent="0">
              <a:lnSpc>
                <a:spcPct val="90000"/>
              </a:lnSpc>
              <a:buNone/>
              <a:defRPr sz="32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4213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CC9AC46E-311C-49B6-8A0E-D2095F2328AF}" type="datetime1">
              <a:rPr lang="en-US" smtClean="0"/>
              <a:t>5/24/2026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nSpc>
                <a:spcPct val="90000"/>
              </a:lnSpc>
              <a:buNone/>
              <a:defRPr sz="2400" b="1" cap="all" baseline="0">
                <a:solidFill>
                  <a:schemeClr val="tx1"/>
                </a:solidFill>
                <a:latin typeface="+mj-lt"/>
              </a:defRPr>
            </a:lvl1pPr>
            <a:lvl2pPr marL="228600" indent="0">
              <a:lnSpc>
                <a:spcPct val="90000"/>
              </a:lnSpc>
              <a:buNone/>
              <a:defRPr sz="2400" b="1" cap="all" baseline="0">
                <a:solidFill>
                  <a:schemeClr val="tx1"/>
                </a:solidFill>
                <a:latin typeface="+mj-lt"/>
              </a:defRPr>
            </a:lvl2pPr>
            <a:lvl3pPr marL="457200" indent="0">
              <a:lnSpc>
                <a:spcPct val="90000"/>
              </a:lnSpc>
              <a:buNone/>
              <a:defRPr sz="2400" b="1" cap="all" baseline="0">
                <a:solidFill>
                  <a:schemeClr val="tx1"/>
                </a:solidFill>
                <a:latin typeface="+mj-lt"/>
              </a:defRPr>
            </a:lvl3pPr>
            <a:lvl4pPr marL="685800" indent="0">
              <a:lnSpc>
                <a:spcPct val="90000"/>
              </a:lnSpc>
              <a:buNone/>
              <a:defRPr sz="2400" b="1" cap="all" baseline="0">
                <a:solidFill>
                  <a:schemeClr val="tx1"/>
                </a:solidFill>
                <a:latin typeface="+mj-lt"/>
              </a:defRPr>
            </a:lvl4pPr>
            <a:lvl5pPr marL="914400" indent="0">
              <a:lnSpc>
                <a:spcPct val="90000"/>
              </a:lnSpc>
              <a:buNone/>
              <a:defRPr sz="24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95514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0C4F10A1-07E0-4636-B3BE-AE66FBE8467A}" type="datetime1">
              <a:rPr lang="en-US" smtClean="0"/>
              <a:t>5/24/2026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371600"/>
            <a:ext cx="10969752" cy="4876800"/>
          </a:xfrm>
        </p:spPr>
        <p:txBody>
          <a:bodyPr anchor="t">
            <a:normAutofit/>
          </a:bodyPr>
          <a:lstStyle>
            <a:lvl1pPr marL="0" indent="0" algn="ctr">
              <a:lnSpc>
                <a:spcPct val="90000"/>
              </a:lnSpc>
              <a:buNone/>
              <a:defRPr sz="3600" b="1" cap="all" baseline="0">
                <a:solidFill>
                  <a:schemeClr val="tx1"/>
                </a:solidFill>
                <a:latin typeface="+mj-lt"/>
              </a:defRPr>
            </a:lvl1pPr>
            <a:lvl2pPr marL="228600" indent="0" algn="ctr">
              <a:lnSpc>
                <a:spcPct val="90000"/>
              </a:lnSpc>
              <a:buNone/>
              <a:defRPr sz="3600" b="1" cap="all" baseline="0">
                <a:solidFill>
                  <a:schemeClr val="tx1"/>
                </a:solidFill>
                <a:latin typeface="+mj-lt"/>
              </a:defRPr>
            </a:lvl2pPr>
            <a:lvl3pPr marL="457200" indent="0" algn="ctr">
              <a:lnSpc>
                <a:spcPct val="90000"/>
              </a:lnSpc>
              <a:buNone/>
              <a:defRPr sz="3600" b="1" cap="all" baseline="0">
                <a:solidFill>
                  <a:schemeClr val="tx1"/>
                </a:solidFill>
                <a:latin typeface="+mj-lt"/>
              </a:defRPr>
            </a:lvl3pPr>
            <a:lvl4pPr marL="685800" indent="0" algn="ctr">
              <a:lnSpc>
                <a:spcPct val="90000"/>
              </a:lnSpc>
              <a:buNone/>
              <a:defRPr sz="3600" b="1" cap="all" baseline="0">
                <a:solidFill>
                  <a:schemeClr val="tx1"/>
                </a:solidFill>
                <a:latin typeface="+mj-lt"/>
              </a:defRPr>
            </a:lvl4pPr>
            <a:lvl5pPr marL="914400" indent="0" algn="ctr">
              <a:lnSpc>
                <a:spcPct val="90000"/>
              </a:lnSpc>
              <a:buNone/>
              <a:defRPr sz="3600" b="1" cap="all" baseline="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2308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9600" y="5572631"/>
            <a:ext cx="10966704" cy="640080"/>
          </a:xfrm>
        </p:spPr>
        <p:txBody>
          <a:bodyPr anchor="b">
            <a:normAutofit/>
          </a:bodyPr>
          <a:lstStyle>
            <a:lvl1pP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567E4DBA-3642-44F7-A1E0-3D9BCA1A53C6}" type="datetime1">
              <a:rPr lang="en-US" smtClean="0"/>
              <a:t>5/24/2026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371600"/>
            <a:ext cx="10966704" cy="3806142"/>
          </a:xfrm>
        </p:spPr>
        <p:txBody>
          <a:bodyPr anchor="t">
            <a:normAutofit/>
          </a:bodyPr>
          <a:lstStyle>
            <a:lvl1pPr marL="164592" indent="-164592">
              <a:lnSpc>
                <a:spcPct val="100000"/>
              </a:lnSpc>
              <a:spcBef>
                <a:spcPts val="0"/>
              </a:spcBef>
              <a:buNone/>
              <a:defRPr sz="3200">
                <a:latin typeface="+mj-lt"/>
              </a:defRPr>
            </a:lvl1pPr>
          </a:lstStyle>
          <a:p>
            <a:pPr lvl="0"/>
            <a:r>
              <a:rPr lang="en-US"/>
              <a:t>Click to add Quote</a:t>
            </a:r>
          </a:p>
        </p:txBody>
      </p:sp>
    </p:spTree>
    <p:extLst>
      <p:ext uri="{BB962C8B-B14F-4D97-AF65-F5344CB8AC3E}">
        <p14:creationId xmlns:p14="http://schemas.microsoft.com/office/powerpoint/2010/main" val="1421213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24000" y="5561790"/>
            <a:ext cx="9137903" cy="686610"/>
          </a:xfrm>
        </p:spPr>
        <p:txBody>
          <a:bodyPr anchor="b">
            <a:normAutofit/>
          </a:bodyPr>
          <a:lstStyle>
            <a:lvl1pPr algn="r">
              <a:lnSpc>
                <a:spcPct val="120000"/>
              </a:lnSpc>
              <a:defRPr sz="240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latin typeface="+mn-lt"/>
              </a:defRPr>
            </a:lvl1pPr>
          </a:lstStyle>
          <a:p>
            <a:fld id="{5F8CD485-684D-4C35-BDF2-D991DF8FFCA1}" type="datetime1">
              <a:rPr lang="en-US" smtClean="0"/>
              <a:t>5/24/2026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71600"/>
            <a:ext cx="9144000" cy="3806142"/>
          </a:xfrm>
        </p:spPr>
        <p:txBody>
          <a:bodyPr anchor="ctr">
            <a:normAutofit/>
          </a:bodyPr>
          <a:lstStyle>
            <a:lvl1pPr marL="164592" indent="-164592">
              <a:lnSpc>
                <a:spcPct val="100000"/>
              </a:lnSpc>
              <a:spcBef>
                <a:spcPts val="0"/>
              </a:spcBef>
              <a:buNone/>
              <a:defRPr sz="3200">
                <a:solidFill>
                  <a:schemeClr val="tx1"/>
                </a:solidFill>
                <a:latin typeface="+mj-lt"/>
              </a:defRPr>
            </a:lvl1pPr>
          </a:lstStyle>
          <a:p>
            <a:pPr lvl="0"/>
            <a:r>
              <a:rPr lang="en-US"/>
              <a:t>Click to add Quote</a:t>
            </a:r>
          </a:p>
        </p:txBody>
      </p:sp>
    </p:spTree>
    <p:extLst>
      <p:ext uri="{BB962C8B-B14F-4D97-AF65-F5344CB8AC3E}">
        <p14:creationId xmlns:p14="http://schemas.microsoft.com/office/powerpoint/2010/main" val="254052276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5561790"/>
            <a:ext cx="5954436" cy="686610"/>
          </a:xfrm>
        </p:spPr>
        <p:txBody>
          <a:bodyPr anchor="b">
            <a:normAutofit/>
          </a:bodyPr>
          <a:lstStyle>
            <a:lvl1pPr algn="r">
              <a:lnSpc>
                <a:spcPct val="120000"/>
              </a:lnSpc>
              <a:defRPr sz="2000" b="1"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latin typeface="+mn-lt"/>
              </a:defRPr>
            </a:lvl1pPr>
          </a:lstStyle>
          <a:p>
            <a:fld id="{3CE2A531-A855-4FC2-83C9-7F8A2FC0A7A9}" type="datetime1">
              <a:rPr lang="en-US" smtClean="0"/>
              <a:t>5/24/2026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latin typeface="+mn-lt"/>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latin typeface="+mn-lt"/>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0" y="1388534"/>
            <a:ext cx="9137904" cy="3789208"/>
          </a:xfrm>
        </p:spPr>
        <p:txBody>
          <a:bodyPr anchor="t">
            <a:normAutofit/>
          </a:bodyPr>
          <a:lstStyle>
            <a:lvl1pPr marL="164592" indent="-164592">
              <a:lnSpc>
                <a:spcPct val="110000"/>
              </a:lnSpc>
              <a:spcBef>
                <a:spcPts val="0"/>
              </a:spcBef>
              <a:buNone/>
              <a:defRPr sz="3200" b="1" i="0" cap="all" baseline="0">
                <a:latin typeface="+mj-lt"/>
              </a:defRPr>
            </a:lvl1pPr>
          </a:lstStyle>
          <a:p>
            <a:pPr lvl="0"/>
            <a:r>
              <a:rPr lang="en-US"/>
              <a:t>Click to add Quote</a:t>
            </a:r>
          </a:p>
        </p:txBody>
      </p:sp>
    </p:spTree>
    <p:extLst>
      <p:ext uri="{BB962C8B-B14F-4D97-AF65-F5344CB8AC3E}">
        <p14:creationId xmlns:p14="http://schemas.microsoft.com/office/powerpoint/2010/main" val="6984128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F101B9D-4D4C-40F1-8133-7CADC817E0C1}" type="datetime1">
              <a:rPr lang="en-US" smtClean="0"/>
              <a:t>5/24/2026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5556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5FF4366-C1D4-4687-A56C-18AD97870CFF}" type="datetime1">
              <a:rPr lang="en-US" smtClean="0"/>
              <a:t>5/24/2026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5815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1371600"/>
            <a:ext cx="10963656" cy="7455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5260159-51DF-49CB-B647-76DC93F9005D}" type="datetime1">
              <a:rPr lang="en-US" smtClean="0"/>
              <a:t>5/24/2026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748948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90B478A-2183-4725-BFFE-F5022B99B7BE}" type="datetime1">
              <a:rPr lang="en-US" smtClean="0"/>
              <a:t>5/24/2026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034480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7" y="1371600"/>
            <a:ext cx="3801195" cy="1219200"/>
          </a:xfrm>
        </p:spPr>
        <p:txBody>
          <a:bodyPr anchor="t">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9407116-79D5-4961-A943-953BCFEA97DD}" type="datetime1">
              <a:rPr lang="en-US" smtClean="0"/>
              <a:t>5/24/2026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7" y="2974848"/>
            <a:ext cx="3801195" cy="3273552"/>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1371600"/>
            <a:ext cx="6774366" cy="4876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1128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1371600"/>
            <a:ext cx="3595634" cy="3124200"/>
          </a:xfrm>
        </p:spPr>
        <p:txBody>
          <a:bodyPr anchor="b">
            <a:normAutofit/>
          </a:bodyPr>
          <a:lstStyle>
            <a:lvl1pPr>
              <a:defRPr sz="24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55BE2D-D64B-4B05-B6D8-FA0500749FF9}" type="datetime1">
              <a:rPr lang="en-US" smtClean="0"/>
              <a:t>5/24/2026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4800600"/>
            <a:ext cx="3595634" cy="1460174"/>
          </a:xfrm>
        </p:spPr>
        <p:txBody>
          <a:bodyPr anchor="b"/>
          <a:lstStyle>
            <a:lvl1pPr marL="0" indent="0">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584991" y="1371600"/>
            <a:ext cx="6997410" cy="4876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6641362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71600"/>
            <a:ext cx="10972800" cy="1865376"/>
          </a:xfrm>
        </p:spPr>
        <p:txBody>
          <a:bodyPr anchor="b">
            <a:norm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ABD5A60-72B7-4332-B4B3-40B2CC6142CE}"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621024"/>
            <a:ext cx="10972800" cy="2627376"/>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756320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t">
            <a:noAutofit/>
          </a:bodyPr>
          <a:lstStyle>
            <a:lvl1pPr>
              <a:defRPr sz="32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E2B004-0AA0-4203-BDB3-16A698CB99F9}" type="datetime1">
              <a:rPr lang="en-US" smtClean="0"/>
              <a:t>5/24/2026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870748"/>
            <a:ext cx="8430639" cy="1608008"/>
          </a:xfrm>
        </p:spPr>
        <p:txBody>
          <a:bodyPr>
            <a:normAutofit/>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58719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09600" y="1381760"/>
            <a:ext cx="10972799" cy="735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2501206"/>
            <a:ext cx="10966703" cy="3722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09600" y="322731"/>
            <a:ext cx="914400" cy="286869"/>
          </a:xfrm>
          <a:prstGeom prst="rect">
            <a:avLst/>
          </a:prstGeom>
        </p:spPr>
        <p:txBody>
          <a:bodyPr vert="horz" lIns="91440" tIns="45720" rIns="91440" bIns="45720" rtlCol="0" anchor="ctr"/>
          <a:lstStyle>
            <a:lvl1pPr algn="l" rtl="0">
              <a:defRPr sz="1000" b="0" i="0" cap="all" baseline="0">
                <a:solidFill>
                  <a:schemeClr val="tx1"/>
                </a:solidFill>
                <a:latin typeface="+mn-lt"/>
              </a:defRPr>
            </a:lvl1pPr>
          </a:lstStyle>
          <a:p>
            <a:fld id="{135AEAE7-3C36-4273-AC18-E54349BDD515}" type="datetime1">
              <a:rPr lang="en-US" smtClean="0"/>
              <a:t>5/24/2026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517648" y="322731"/>
            <a:ext cx="7150608" cy="286869"/>
          </a:xfrm>
          <a:prstGeom prst="rect">
            <a:avLst/>
          </a:prstGeom>
        </p:spPr>
        <p:txBody>
          <a:bodyPr vert="horz" lIns="91440" tIns="45720" rIns="91440" bIns="45720" rtlCol="0" anchor="ctr"/>
          <a:lstStyle>
            <a:lvl1pPr algn="ctr" rtl="0">
              <a:defRPr sz="1000" b="0" i="0" cap="all"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661904" y="322731"/>
            <a:ext cx="914400" cy="286869"/>
          </a:xfrm>
          <a:prstGeom prst="rect">
            <a:avLst/>
          </a:prstGeom>
        </p:spPr>
        <p:txBody>
          <a:bodyPr vert="horz" lIns="91440" tIns="45720" rIns="91440" bIns="45720" rtlCol="0" anchor="ctr"/>
          <a:lstStyle>
            <a:lvl1pPr algn="r" rtl="0">
              <a:defRPr sz="10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274398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sldNum="0" hdr="0" ftr="0" dt="0"/>
  <p:txStyles>
    <p:titleStyle>
      <a:lvl1pPr algn="l" defTabSz="914400" rtl="0" eaLnBrk="1" latinLnBrk="0" hangingPunct="1">
        <a:lnSpc>
          <a:spcPct val="80000"/>
        </a:lnSpc>
        <a:spcBef>
          <a:spcPct val="0"/>
        </a:spcBef>
        <a:buNone/>
        <a:defRPr sz="2400" b="1" i="0" kern="1200" cap="all"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cap="none" baseline="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orient="horz" pos="192" userDrawn="1">
          <p15:clr>
            <a:srgbClr val="F26B43"/>
          </p15:clr>
        </p15:guide>
        <p15:guide id="28" orient="horz" pos="3936" userDrawn="1">
          <p15:clr>
            <a:srgbClr val="F26B43"/>
          </p15:clr>
        </p15:guide>
        <p15:guide id="29" orient="horz" pos="384" userDrawn="1">
          <p15:clr>
            <a:srgbClr val="F26B43"/>
          </p15:clr>
        </p15:guide>
        <p15:guide id="30" orient="horz" pos="4128" userDrawn="1">
          <p15:clr>
            <a:srgbClr val="F26B43"/>
          </p15:clr>
        </p15:guide>
        <p15:guide id="31" orient="horz" pos="864" userDrawn="1">
          <p15:clr>
            <a:srgbClr val="F26B43"/>
          </p15:clr>
        </p15:guide>
        <p15:guide id="32" pos="6720" userDrawn="1">
          <p15:clr>
            <a:srgbClr val="F26B43"/>
          </p15:clr>
        </p15:guide>
        <p15:guide id="33" pos="6096" userDrawn="1">
          <p15:clr>
            <a:srgbClr val="F26B43"/>
          </p15:clr>
        </p15:guide>
        <p15:guide id="34" pos="960" userDrawn="1">
          <p15:clr>
            <a:srgbClr val="F26B43"/>
          </p15:clr>
        </p15:guide>
        <p15:guide id="35" pos="15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0C01F-8A42-B176-D4D3-8B8D2CFFDED6}"/>
              </a:ext>
            </a:extLst>
          </p:cNvPr>
          <p:cNvSpPr>
            <a:spLocks noGrp="1"/>
          </p:cNvSpPr>
          <p:nvPr>
            <p:ph type="ctrTitle"/>
          </p:nvPr>
        </p:nvSpPr>
        <p:spPr>
          <a:xfrm>
            <a:off x="8229600" y="1411358"/>
            <a:ext cx="3352800" cy="2845567"/>
          </a:xfrm>
        </p:spPr>
        <p:txBody>
          <a:bodyPr anchor="t">
            <a:normAutofit/>
          </a:bodyPr>
          <a:lstStyle/>
          <a:p>
            <a:r>
              <a:rPr lang="en-US" sz="2700"/>
              <a:t>Computational Governance: A Judging Pitch for Optimizing Democracy</a:t>
            </a:r>
          </a:p>
        </p:txBody>
      </p:sp>
      <p:sp>
        <p:nvSpPr>
          <p:cNvPr id="3" name="Subtitle 2">
            <a:extLst>
              <a:ext uri="{FF2B5EF4-FFF2-40B4-BE49-F238E27FC236}">
                <a16:creationId xmlns:a16="http://schemas.microsoft.com/office/drawing/2014/main" id="{0A3CB568-E555-BFB9-49D4-7A121EB01B70}"/>
              </a:ext>
            </a:extLst>
          </p:cNvPr>
          <p:cNvSpPr>
            <a:spLocks noGrp="1"/>
          </p:cNvSpPr>
          <p:nvPr>
            <p:ph type="subTitle" idx="1"/>
          </p:nvPr>
        </p:nvSpPr>
        <p:spPr>
          <a:xfrm>
            <a:off x="8228973" y="4403039"/>
            <a:ext cx="3347330" cy="1123122"/>
          </a:xfrm>
        </p:spPr>
        <p:txBody>
          <a:bodyPr>
            <a:normAutofit/>
          </a:bodyPr>
          <a:lstStyle/>
          <a:p>
            <a:r>
              <a:rPr lang="en-US"/>
              <a:t>Leveraging technology to enhance democratic decision-making</a:t>
            </a:r>
          </a:p>
        </p:txBody>
      </p:sp>
      <p:pic>
        <p:nvPicPr>
          <p:cNvPr id="4" name="Picture 3" descr="Check Mark Concept">
            <a:extLst>
              <a:ext uri="{FF2B5EF4-FFF2-40B4-BE49-F238E27FC236}">
                <a16:creationId xmlns:a16="http://schemas.microsoft.com/office/drawing/2014/main" id="{27C5198B-75AB-4F0B-BAF4-7CCFCA491286}"/>
              </a:ext>
            </a:extLst>
          </p:cNvPr>
          <p:cNvPicPr>
            <a:picLocks noChangeAspect="1"/>
          </p:cNvPicPr>
          <p:nvPr/>
        </p:nvPicPr>
        <p:blipFill>
          <a:blip r:embed="rId3"/>
          <a:srcRect t="5601" r="3" b="4577"/>
          <a:stretch>
            <a:fillRect/>
          </a:stretch>
        </p:blipFill>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p:spPr>
      </p:pic>
    </p:spTree>
    <p:extLst>
      <p:ext uri="{BB962C8B-B14F-4D97-AF65-F5344CB8AC3E}">
        <p14:creationId xmlns:p14="http://schemas.microsoft.com/office/powerpoint/2010/main" val="231050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B14E8-5D5C-7B02-27CE-8D951D38C7C2}"/>
              </a:ext>
            </a:extLst>
          </p:cNvPr>
          <p:cNvSpPr>
            <a:spLocks noGrp="1"/>
          </p:cNvSpPr>
          <p:nvPr>
            <p:ph type="ctrTitle"/>
          </p:nvPr>
        </p:nvSpPr>
        <p:spPr>
          <a:xfrm>
            <a:off x="612648" y="1417671"/>
            <a:ext cx="7909560" cy="4830729"/>
          </a:xfrm>
        </p:spPr>
        <p:txBody>
          <a:bodyPr anchor="b">
            <a:normAutofit/>
          </a:bodyPr>
          <a:lstStyle/>
          <a:p>
            <a:r>
              <a:rPr lang="en-US"/>
              <a:t>Opening and Context</a:t>
            </a:r>
          </a:p>
        </p:txBody>
      </p:sp>
    </p:spTree>
    <p:extLst>
      <p:ext uri="{BB962C8B-B14F-4D97-AF65-F5344CB8AC3E}">
        <p14:creationId xmlns:p14="http://schemas.microsoft.com/office/powerpoint/2010/main" val="603929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58DEE-107F-B0AD-6A94-17A752EE8466}"/>
              </a:ext>
            </a:extLst>
          </p:cNvPr>
          <p:cNvSpPr>
            <a:spLocks noGrp="1"/>
          </p:cNvSpPr>
          <p:nvPr>
            <p:ph type="title"/>
          </p:nvPr>
        </p:nvSpPr>
        <p:spPr>
          <a:xfrm>
            <a:off x="609599" y="1371600"/>
            <a:ext cx="4675633" cy="990600"/>
          </a:xfrm>
        </p:spPr>
        <p:txBody>
          <a:bodyPr anchor="t">
            <a:normAutofit/>
          </a:bodyPr>
          <a:lstStyle/>
          <a:p>
            <a:r>
              <a:rPr lang="en-US"/>
              <a:t>Computational Governance: Framing the Core Idea</a:t>
            </a:r>
          </a:p>
        </p:txBody>
      </p:sp>
      <p:pic>
        <p:nvPicPr>
          <p:cNvPr id="5" name="Content Placeholder 4" descr="Modern background">
            <a:extLst>
              <a:ext uri="{FF2B5EF4-FFF2-40B4-BE49-F238E27FC236}">
                <a16:creationId xmlns:a16="http://schemas.microsoft.com/office/drawing/2014/main" id="{9ED75A89-A4A1-4C60-8EC0-520142A0A766}"/>
              </a:ext>
            </a:extLst>
          </p:cNvPr>
          <p:cNvPicPr>
            <a:picLocks noGrp="1" noChangeAspect="1"/>
          </p:cNvPicPr>
          <p:nvPr>
            <p:ph type="pic" sz="quarter" idx="13"/>
          </p:nvPr>
        </p:nvPicPr>
        <p:blipFill>
          <a:blip r:embed="rId3"/>
          <a:srcRect l="5174" r="5712" b="2"/>
          <a:stretch>
            <a:fillRect/>
          </a:stretch>
        </p:blipFill>
        <p:spPr>
          <a:xfrm>
            <a:off x="609600" y="2746246"/>
            <a:ext cx="4675632" cy="3502153"/>
          </a:xfrm>
        </p:spPr>
      </p:pic>
      <p:sp>
        <p:nvSpPr>
          <p:cNvPr id="4" name="Content Placeholder 3">
            <a:extLst>
              <a:ext uri="{FF2B5EF4-FFF2-40B4-BE49-F238E27FC236}">
                <a16:creationId xmlns:a16="http://schemas.microsoft.com/office/drawing/2014/main" id="{EE9251DE-7F01-1B09-2625-0549589E41E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Reframing Governance</a:t>
            </a:r>
          </a:p>
          <a:p>
            <a:pPr marL="0" lvl="1" indent="0">
              <a:buFont typeface="Arial" panose="020B0604020202020204" pitchFamily="34" charset="0"/>
              <a:buNone/>
            </a:pPr>
            <a:r>
              <a:rPr lang="en-US"/>
              <a:t>Governance is viewed as a computational optimization problem to improve democratic decision-making beyond ideology.</a:t>
            </a:r>
          </a:p>
          <a:p>
            <a:pPr marL="0" indent="0">
              <a:spcBef>
                <a:spcPts val="2500"/>
              </a:spcBef>
              <a:buFont typeface="Arial" panose="020B0604020202020204" pitchFamily="34" charset="0"/>
              <a:buNone/>
            </a:pPr>
            <a:r>
              <a:rPr lang="en-US" b="1"/>
              <a:t>Challenges in Modern Democracy</a:t>
            </a:r>
          </a:p>
          <a:p>
            <a:pPr marL="0" lvl="1" indent="0">
              <a:buFont typeface="Arial" panose="020B0604020202020204" pitchFamily="34" charset="0"/>
              <a:buNone/>
            </a:pPr>
            <a:r>
              <a:rPr lang="en-US"/>
              <a:t>Current democratic systems struggle due to inability to measure and reconcile complex societal opinions effectively.</a:t>
            </a:r>
          </a:p>
          <a:p>
            <a:pPr marL="0" indent="0">
              <a:spcBef>
                <a:spcPts val="2500"/>
              </a:spcBef>
              <a:buFont typeface="Arial" panose="020B0604020202020204" pitchFamily="34" charset="0"/>
              <a:buNone/>
            </a:pPr>
            <a:r>
              <a:rPr lang="en-US" b="1"/>
              <a:t>Interdisciplinary Approach</a:t>
            </a:r>
          </a:p>
          <a:p>
            <a:pPr marL="0" lvl="1" indent="0">
              <a:buFont typeface="Arial" panose="020B0604020202020204" pitchFamily="34" charset="0"/>
              <a:buNone/>
            </a:pPr>
            <a:r>
              <a:rPr lang="en-US"/>
              <a:t>Combining mathematics, economics, and AI to quantify public input and optimize policy outcomes transparently.</a:t>
            </a:r>
          </a:p>
          <a:p>
            <a:pPr marL="0" indent="0">
              <a:spcBef>
                <a:spcPts val="2500"/>
              </a:spcBef>
              <a:buFont typeface="Arial" panose="020B0604020202020204" pitchFamily="34" charset="0"/>
              <a:buNone/>
            </a:pPr>
            <a:r>
              <a:rPr lang="en-US" b="1"/>
              <a:t>Strengthening Democracy</a:t>
            </a:r>
          </a:p>
          <a:p>
            <a:pPr marL="0" lvl="1" indent="0">
              <a:buFont typeface="Arial" panose="020B0604020202020204" pitchFamily="34" charset="0"/>
              <a:buNone/>
            </a:pPr>
            <a:r>
              <a:rPr lang="en-US"/>
              <a:t>The framework augments democratic institutions with ethical and scalable tools improving decision quality and trust.</a:t>
            </a:r>
          </a:p>
        </p:txBody>
      </p:sp>
    </p:spTree>
    <p:extLst>
      <p:ext uri="{BB962C8B-B14F-4D97-AF65-F5344CB8AC3E}">
        <p14:creationId xmlns:p14="http://schemas.microsoft.com/office/powerpoint/2010/main" val="6697817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9C3F-F743-0B3D-4631-0F07AAA3200C}"/>
              </a:ext>
            </a:extLst>
          </p:cNvPr>
          <p:cNvSpPr>
            <a:spLocks noGrp="1"/>
          </p:cNvSpPr>
          <p:nvPr>
            <p:ph type="ctrTitle"/>
          </p:nvPr>
        </p:nvSpPr>
        <p:spPr>
          <a:xfrm>
            <a:off x="612648" y="1417671"/>
            <a:ext cx="7909560" cy="4830729"/>
          </a:xfrm>
        </p:spPr>
        <p:txBody>
          <a:bodyPr anchor="b">
            <a:normAutofit/>
          </a:bodyPr>
          <a:lstStyle/>
          <a:p>
            <a:r>
              <a:rPr lang="en-US"/>
              <a:t>The Core Problem</a:t>
            </a:r>
          </a:p>
        </p:txBody>
      </p:sp>
    </p:spTree>
    <p:extLst>
      <p:ext uri="{BB962C8B-B14F-4D97-AF65-F5344CB8AC3E}">
        <p14:creationId xmlns:p14="http://schemas.microsoft.com/office/powerpoint/2010/main" val="13026453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1AF2-49F9-7FE4-D841-F5D646B5F018}"/>
              </a:ext>
            </a:extLst>
          </p:cNvPr>
          <p:cNvSpPr>
            <a:spLocks noGrp="1"/>
          </p:cNvSpPr>
          <p:nvPr>
            <p:ph type="title"/>
          </p:nvPr>
        </p:nvSpPr>
        <p:spPr>
          <a:xfrm>
            <a:off x="612646" y="1371600"/>
            <a:ext cx="7166187" cy="606886"/>
          </a:xfrm>
        </p:spPr>
        <p:txBody>
          <a:bodyPr anchor="t">
            <a:normAutofit/>
          </a:bodyPr>
          <a:lstStyle/>
          <a:p>
            <a:r>
              <a:rPr lang="en-US"/>
              <a:t>Why Traditional Voting Systems Fail</a:t>
            </a:r>
          </a:p>
        </p:txBody>
      </p:sp>
      <p:sp>
        <p:nvSpPr>
          <p:cNvPr id="4" name="Content Placeholder 3">
            <a:extLst>
              <a:ext uri="{FF2B5EF4-FFF2-40B4-BE49-F238E27FC236}">
                <a16:creationId xmlns:a16="http://schemas.microsoft.com/office/drawing/2014/main" id="{152F82A6-C053-9F6F-49A5-BF36C903DAE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Majority Voting Limitations</a:t>
            </a:r>
          </a:p>
          <a:p>
            <a:pPr marL="0" lvl="1" indent="0">
              <a:lnSpc>
                <a:spcPct val="110000"/>
              </a:lnSpc>
              <a:buFont typeface="Arial" panose="020B0604020202020204" pitchFamily="34" charset="0"/>
              <a:buNone/>
            </a:pPr>
            <a:r>
              <a:rPr lang="en-US" sz="1200"/>
              <a:t>Majority voting captures preference direction but ignores intensity, allowing weakly held views to override strongly held ones.</a:t>
            </a:r>
          </a:p>
          <a:p>
            <a:pPr marL="0" indent="0">
              <a:lnSpc>
                <a:spcPct val="110000"/>
              </a:lnSpc>
              <a:spcBef>
                <a:spcPts val="2500"/>
              </a:spcBef>
              <a:buFont typeface="Arial" panose="020B0604020202020204" pitchFamily="34" charset="0"/>
              <a:buNone/>
            </a:pPr>
            <a:r>
              <a:rPr lang="en-US" sz="1200" b="1"/>
              <a:t>Political Polarization Effects</a:t>
            </a:r>
          </a:p>
          <a:p>
            <a:pPr marL="0" lvl="1" indent="0">
              <a:lnSpc>
                <a:spcPct val="110000"/>
              </a:lnSpc>
              <a:buFont typeface="Arial" panose="020B0604020202020204" pitchFamily="34" charset="0"/>
              <a:buNone/>
            </a:pPr>
            <a:r>
              <a:rPr lang="en-US" sz="1200"/>
              <a:t>Current systems incentivize polarization by focusing on narrow majorities, hindering broad compromise and cooperative solutions.</a:t>
            </a:r>
          </a:p>
          <a:p>
            <a:pPr marL="0" indent="0">
              <a:lnSpc>
                <a:spcPct val="110000"/>
              </a:lnSpc>
              <a:spcBef>
                <a:spcPts val="2500"/>
              </a:spcBef>
              <a:buFont typeface="Arial" panose="020B0604020202020204" pitchFamily="34" charset="0"/>
              <a:buNone/>
            </a:pPr>
            <a:r>
              <a:rPr lang="en-US" sz="1200" b="1"/>
              <a:t>Lack of Preference Nuance</a:t>
            </a:r>
          </a:p>
          <a:p>
            <a:pPr marL="0" lvl="1" indent="0">
              <a:lnSpc>
                <a:spcPct val="110000"/>
              </a:lnSpc>
              <a:buFont typeface="Arial" panose="020B0604020202020204" pitchFamily="34" charset="0"/>
              <a:buNone/>
            </a:pPr>
            <a:r>
              <a:rPr lang="en-US" sz="1200"/>
              <a:t>Voting outcomes do not reveal trade-offs or priorities, leaving policymakers guessing about constituent concerns and preferences.</a:t>
            </a:r>
          </a:p>
          <a:p>
            <a:pPr marL="0" indent="0">
              <a:lnSpc>
                <a:spcPct val="110000"/>
              </a:lnSpc>
              <a:spcBef>
                <a:spcPts val="2500"/>
              </a:spcBef>
              <a:buFont typeface="Arial" panose="020B0604020202020204" pitchFamily="34" charset="0"/>
              <a:buNone/>
            </a:pPr>
            <a:r>
              <a:rPr lang="en-US" sz="1200" b="1"/>
              <a:t>Need for New Approach</a:t>
            </a:r>
          </a:p>
          <a:p>
            <a:pPr marL="0" lvl="1" indent="0">
              <a:lnSpc>
                <a:spcPct val="110000"/>
              </a:lnSpc>
              <a:buFont typeface="Arial" panose="020B0604020202020204" pitchFamily="34" charset="0"/>
              <a:buNone/>
            </a:pPr>
            <a:r>
              <a:rPr lang="en-US" sz="1200"/>
              <a:t>Addressing preference measurement is essential for reforms that capture intensity, support compromise, and reduce zero-sum dynamics.</a:t>
            </a:r>
          </a:p>
        </p:txBody>
      </p:sp>
      <p:pic>
        <p:nvPicPr>
          <p:cNvPr id="5" name="Content Placeholder 4" descr="Assortment of colourful pins.">
            <a:extLst>
              <a:ext uri="{FF2B5EF4-FFF2-40B4-BE49-F238E27FC236}">
                <a16:creationId xmlns:a16="http://schemas.microsoft.com/office/drawing/2014/main" id="{1AF0C7F9-BBE9-410B-AFC2-D761E32A507B}"/>
              </a:ext>
            </a:extLst>
          </p:cNvPr>
          <p:cNvPicPr>
            <a:picLocks noGrp="1" noChangeAspect="1"/>
          </p:cNvPicPr>
          <p:nvPr>
            <p:ph type="pic" sz="quarter" idx="13"/>
          </p:nvPr>
        </p:nvPicPr>
        <p:blipFill>
          <a:blip r:embed="rId3"/>
          <a:srcRect l="28459" r="24816" b="-1"/>
          <a:stretch>
            <a:fillRect/>
          </a:stretch>
        </p:blipFill>
        <p:spPr>
          <a:xfrm>
            <a:off x="8165593" y="1373529"/>
            <a:ext cx="3413760" cy="4876800"/>
          </a:xfrm>
        </p:spPr>
      </p:pic>
    </p:spTree>
    <p:extLst>
      <p:ext uri="{BB962C8B-B14F-4D97-AF65-F5344CB8AC3E}">
        <p14:creationId xmlns:p14="http://schemas.microsoft.com/office/powerpoint/2010/main" val="19420518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921E-815F-3EF4-7A43-8B932CBFF64D}"/>
              </a:ext>
            </a:extLst>
          </p:cNvPr>
          <p:cNvSpPr>
            <a:spLocks noGrp="1"/>
          </p:cNvSpPr>
          <p:nvPr>
            <p:ph type="ctrTitle"/>
          </p:nvPr>
        </p:nvSpPr>
        <p:spPr>
          <a:xfrm>
            <a:off x="612648" y="1417671"/>
            <a:ext cx="7909560" cy="4830729"/>
          </a:xfrm>
        </p:spPr>
        <p:txBody>
          <a:bodyPr anchor="b">
            <a:normAutofit/>
          </a:bodyPr>
          <a:lstStyle/>
          <a:p>
            <a:r>
              <a:rPr lang="en-US"/>
              <a:t>Conceptual Shift</a:t>
            </a:r>
          </a:p>
        </p:txBody>
      </p:sp>
    </p:spTree>
    <p:extLst>
      <p:ext uri="{BB962C8B-B14F-4D97-AF65-F5344CB8AC3E}">
        <p14:creationId xmlns:p14="http://schemas.microsoft.com/office/powerpoint/2010/main" val="36245728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C30B-7F22-DFDE-5B5E-8BD3A0E3BC47}"/>
              </a:ext>
            </a:extLst>
          </p:cNvPr>
          <p:cNvSpPr>
            <a:spLocks noGrp="1"/>
          </p:cNvSpPr>
          <p:nvPr>
            <p:ph type="title"/>
          </p:nvPr>
        </p:nvSpPr>
        <p:spPr/>
        <p:txBody>
          <a:bodyPr/>
          <a:lstStyle/>
          <a:p>
            <a:r>
              <a:rPr lang="en-US"/>
              <a:t>Reframing Governance as an Optimization Problem</a:t>
            </a:r>
          </a:p>
        </p:txBody>
      </p:sp>
      <p:pic>
        <p:nvPicPr>
          <p:cNvPr id="5" name="Content Placeholder 4" descr="Internet of Things Concept">
            <a:extLst>
              <a:ext uri="{FF2B5EF4-FFF2-40B4-BE49-F238E27FC236}">
                <a16:creationId xmlns:a16="http://schemas.microsoft.com/office/drawing/2014/main" id="{685D857C-1F91-4612-8DB5-BFC57AF7CB89}"/>
              </a:ext>
            </a:extLst>
          </p:cNvPr>
          <p:cNvPicPr>
            <a:picLocks noGrp="1" noChangeAspect="1"/>
          </p:cNvPicPr>
          <p:nvPr>
            <p:ph sz="quarter" idx="15"/>
          </p:nvPr>
        </p:nvPicPr>
        <p:blipFill>
          <a:blip r:embed="rId3"/>
          <a:stretch>
            <a:fillRect/>
          </a:stretch>
        </p:blipFill>
        <p:spPr>
          <a:xfrm>
            <a:off x="609600" y="2611106"/>
            <a:ext cx="5289550" cy="3528088"/>
          </a:xfrm>
          <a:prstGeom prst="rect">
            <a:avLst/>
          </a:prstGeom>
        </p:spPr>
      </p:pic>
      <p:sp>
        <p:nvSpPr>
          <p:cNvPr id="4" name="Content Placeholder 3">
            <a:extLst>
              <a:ext uri="{FF2B5EF4-FFF2-40B4-BE49-F238E27FC236}">
                <a16:creationId xmlns:a16="http://schemas.microsoft.com/office/drawing/2014/main" id="{0D153489-A26D-4D8B-0E9D-B3B566A2A56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Governance as Optimization</a:t>
            </a:r>
          </a:p>
          <a:p>
            <a:pPr marL="742950" lvl="1" indent="-285750">
              <a:buFont typeface="Arial" panose="020B0604020202020204" pitchFamily="34" charset="0"/>
              <a:buChar char="•"/>
            </a:pPr>
            <a:r>
              <a:rPr lang="en-US"/>
              <a:t>Governance is reframed as an optimization problem focusing on maximizing societal utility within constraints.</a:t>
            </a:r>
          </a:p>
          <a:p>
            <a:pPr>
              <a:buFont typeface="Arial" panose="020B0604020202020204" pitchFamily="34" charset="0"/>
              <a:buChar char="•"/>
            </a:pPr>
            <a:r>
              <a:rPr lang="en-US"/>
              <a:t>Trade-offs and Efficiency</a:t>
            </a:r>
          </a:p>
          <a:p>
            <a:pPr marL="742950" lvl="1" indent="-285750">
              <a:buFont typeface="Arial" panose="020B0604020202020204" pitchFamily="34" charset="0"/>
              <a:buChar char="•"/>
            </a:pPr>
            <a:r>
              <a:rPr lang="en-US"/>
              <a:t>The approach allows explicit evaluation of trade-offs aiming for Pareto efficient outcomes without equal happiness assumption.</a:t>
            </a:r>
          </a:p>
          <a:p>
            <a:pPr>
              <a:buFont typeface="Arial" panose="020B0604020202020204" pitchFamily="34" charset="0"/>
              <a:buChar char="•"/>
            </a:pPr>
            <a:r>
              <a:rPr lang="en-US"/>
              <a:t>Transparency and Fairness</a:t>
            </a:r>
          </a:p>
          <a:p>
            <a:pPr marL="742950" lvl="1" indent="-285750">
              <a:buFont typeface="Arial" panose="020B0604020202020204" pitchFamily="34" charset="0"/>
              <a:buChar char="•"/>
            </a:pPr>
            <a:r>
              <a:rPr lang="en-US"/>
              <a:t>Optimization enables more transparent and effective democratic systems while keeping human values central.</a:t>
            </a:r>
          </a:p>
        </p:txBody>
      </p:sp>
    </p:spTree>
    <p:extLst>
      <p:ext uri="{BB962C8B-B14F-4D97-AF65-F5344CB8AC3E}">
        <p14:creationId xmlns:p14="http://schemas.microsoft.com/office/powerpoint/2010/main" val="642118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9B73-9321-8961-C203-4A5E905BD1C2}"/>
              </a:ext>
            </a:extLst>
          </p:cNvPr>
          <p:cNvSpPr>
            <a:spLocks noGrp="1"/>
          </p:cNvSpPr>
          <p:nvPr>
            <p:ph type="ctrTitle"/>
          </p:nvPr>
        </p:nvSpPr>
        <p:spPr>
          <a:xfrm>
            <a:off x="612648" y="1417671"/>
            <a:ext cx="7909560" cy="4830729"/>
          </a:xfrm>
        </p:spPr>
        <p:txBody>
          <a:bodyPr anchor="b">
            <a:normAutofit/>
          </a:bodyPr>
          <a:lstStyle/>
          <a:p>
            <a:r>
              <a:rPr lang="en-US"/>
              <a:t>Solution Part I</a:t>
            </a:r>
          </a:p>
        </p:txBody>
      </p:sp>
    </p:spTree>
    <p:extLst>
      <p:ext uri="{BB962C8B-B14F-4D97-AF65-F5344CB8AC3E}">
        <p14:creationId xmlns:p14="http://schemas.microsoft.com/office/powerpoint/2010/main" val="3531090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4F3F7-A57C-5172-EF71-FD8C0D4FBC9F}"/>
              </a:ext>
            </a:extLst>
          </p:cNvPr>
          <p:cNvSpPr>
            <a:spLocks noGrp="1"/>
          </p:cNvSpPr>
          <p:nvPr>
            <p:ph type="title"/>
          </p:nvPr>
        </p:nvSpPr>
        <p:spPr>
          <a:xfrm>
            <a:off x="612646" y="1371600"/>
            <a:ext cx="7166187" cy="606886"/>
          </a:xfrm>
        </p:spPr>
        <p:txBody>
          <a:bodyPr anchor="t">
            <a:normAutofit/>
          </a:bodyPr>
          <a:lstStyle/>
          <a:p>
            <a:r>
              <a:rPr lang="en-US"/>
              <a:t>The Pareto Legislative Engine</a:t>
            </a:r>
          </a:p>
        </p:txBody>
      </p:sp>
      <p:sp>
        <p:nvSpPr>
          <p:cNvPr id="4" name="Content Placeholder 3">
            <a:extLst>
              <a:ext uri="{FF2B5EF4-FFF2-40B4-BE49-F238E27FC236}">
                <a16:creationId xmlns:a16="http://schemas.microsoft.com/office/drawing/2014/main" id="{589C3043-609F-26DF-DBDD-EAAFE4EE4E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Quadratic Voting Mechanism</a:t>
            </a:r>
          </a:p>
          <a:p>
            <a:pPr marL="0" lvl="1" indent="0">
              <a:lnSpc>
                <a:spcPct val="110000"/>
              </a:lnSpc>
              <a:buFont typeface="Arial" panose="020B0604020202020204" pitchFamily="34" charset="0"/>
              <a:buNone/>
            </a:pPr>
            <a:r>
              <a:rPr lang="en-US" sz="1200"/>
              <a:t>Participants allocate votes with increasing cost to express true preference intensity, discouraging strategic exaggeration.</a:t>
            </a:r>
          </a:p>
          <a:p>
            <a:pPr marL="0" indent="0">
              <a:lnSpc>
                <a:spcPct val="110000"/>
              </a:lnSpc>
              <a:spcBef>
                <a:spcPts val="2500"/>
              </a:spcBef>
              <a:buFont typeface="Arial" panose="020B0604020202020204" pitchFamily="34" charset="0"/>
              <a:buNone/>
            </a:pPr>
            <a:r>
              <a:rPr lang="en-US" sz="1200" b="1"/>
              <a:t>Preference Intensity Measurement</a:t>
            </a:r>
          </a:p>
          <a:p>
            <a:pPr marL="0" lvl="1" indent="0">
              <a:lnSpc>
                <a:spcPct val="110000"/>
              </a:lnSpc>
              <a:buFont typeface="Arial" panose="020B0604020202020204" pitchFamily="34" charset="0"/>
              <a:buNone/>
            </a:pPr>
            <a:r>
              <a:rPr lang="en-US" sz="1200"/>
              <a:t>PLE captures richer public preference data than traditional polls by measuring how strongly issues matter to voters.</a:t>
            </a:r>
          </a:p>
          <a:p>
            <a:pPr marL="0" indent="0">
              <a:lnSpc>
                <a:spcPct val="110000"/>
              </a:lnSpc>
              <a:spcBef>
                <a:spcPts val="2500"/>
              </a:spcBef>
              <a:buFont typeface="Arial" panose="020B0604020202020204" pitchFamily="34" charset="0"/>
              <a:buNone/>
            </a:pPr>
            <a:r>
              <a:rPr lang="en-US" sz="1200" b="1"/>
              <a:t>Pareto-Efficient Compromise</a:t>
            </a:r>
          </a:p>
          <a:p>
            <a:pPr marL="0" lvl="1" indent="0">
              <a:lnSpc>
                <a:spcPct val="110000"/>
              </a:lnSpc>
              <a:buFont typeface="Arial" panose="020B0604020202020204" pitchFamily="34" charset="0"/>
              <a:buNone/>
            </a:pPr>
            <a:r>
              <a:rPr lang="en-US" sz="1200"/>
              <a:t>Optimization finds policy solutions where no group can be better off without worsening another beyond limits.</a:t>
            </a:r>
          </a:p>
          <a:p>
            <a:pPr marL="0" indent="0">
              <a:lnSpc>
                <a:spcPct val="110000"/>
              </a:lnSpc>
              <a:spcBef>
                <a:spcPts val="2500"/>
              </a:spcBef>
              <a:buFont typeface="Arial" panose="020B0604020202020204" pitchFamily="34" charset="0"/>
              <a:buNone/>
            </a:pPr>
            <a:r>
              <a:rPr lang="en-US" sz="1200" b="1"/>
              <a:t>Legislative Application</a:t>
            </a:r>
          </a:p>
          <a:p>
            <a:pPr marL="0" lvl="1" indent="0">
              <a:lnSpc>
                <a:spcPct val="110000"/>
              </a:lnSpc>
              <a:buFont typeface="Arial" panose="020B0604020202020204" pitchFamily="34" charset="0"/>
              <a:buNone/>
            </a:pPr>
            <a:r>
              <a:rPr lang="en-US" sz="1200"/>
              <a:t>PLE scales mechanism design principles into a practical, automated legislative process, advancing participatory tools.</a:t>
            </a:r>
          </a:p>
        </p:txBody>
      </p:sp>
      <p:pic>
        <p:nvPicPr>
          <p:cNvPr id="5" name="Content Placeholder 4" descr="Concept of decision making. Businessman's hand highlighting two cells of tic-tac-toe. ">
            <a:extLst>
              <a:ext uri="{FF2B5EF4-FFF2-40B4-BE49-F238E27FC236}">
                <a16:creationId xmlns:a16="http://schemas.microsoft.com/office/drawing/2014/main" id="{D40198C2-B669-457A-9EAE-0FAF984567CA}"/>
              </a:ext>
            </a:extLst>
          </p:cNvPr>
          <p:cNvPicPr>
            <a:picLocks noGrp="1" noChangeAspect="1"/>
          </p:cNvPicPr>
          <p:nvPr>
            <p:ph type="pic" sz="quarter" idx="13"/>
          </p:nvPr>
        </p:nvPicPr>
        <p:blipFill>
          <a:blip r:embed="rId3"/>
          <a:srcRect l="37176" r="10324"/>
          <a:stretch>
            <a:fillRect/>
          </a:stretch>
        </p:blipFill>
        <p:spPr>
          <a:xfrm>
            <a:off x="8165593" y="1373529"/>
            <a:ext cx="3413760" cy="4876800"/>
          </a:xfrm>
        </p:spPr>
      </p:pic>
    </p:spTree>
    <p:extLst>
      <p:ext uri="{BB962C8B-B14F-4D97-AF65-F5344CB8AC3E}">
        <p14:creationId xmlns:p14="http://schemas.microsoft.com/office/powerpoint/2010/main" val="2844993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BB47-2BD5-D8B4-AD16-B4073B622B14}"/>
              </a:ext>
            </a:extLst>
          </p:cNvPr>
          <p:cNvSpPr>
            <a:spLocks noGrp="1"/>
          </p:cNvSpPr>
          <p:nvPr>
            <p:ph type="ctrTitle"/>
          </p:nvPr>
        </p:nvSpPr>
        <p:spPr>
          <a:xfrm>
            <a:off x="612648" y="1417671"/>
            <a:ext cx="7909560" cy="4830729"/>
          </a:xfrm>
        </p:spPr>
        <p:txBody>
          <a:bodyPr anchor="b">
            <a:normAutofit/>
          </a:bodyPr>
          <a:lstStyle/>
          <a:p>
            <a:r>
              <a:rPr lang="en-US"/>
              <a:t>Solution Part II</a:t>
            </a:r>
          </a:p>
        </p:txBody>
      </p:sp>
    </p:spTree>
    <p:extLst>
      <p:ext uri="{BB962C8B-B14F-4D97-AF65-F5344CB8AC3E}">
        <p14:creationId xmlns:p14="http://schemas.microsoft.com/office/powerpoint/2010/main" val="7732379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8D664-B928-BC70-3149-818C7BBE96B4}"/>
              </a:ext>
            </a:extLst>
          </p:cNvPr>
          <p:cNvSpPr>
            <a:spLocks noGrp="1"/>
          </p:cNvSpPr>
          <p:nvPr>
            <p:ph type="title"/>
          </p:nvPr>
        </p:nvSpPr>
        <p:spPr>
          <a:xfrm>
            <a:off x="6904077" y="1371599"/>
            <a:ext cx="4667987" cy="606887"/>
          </a:xfrm>
        </p:spPr>
        <p:txBody>
          <a:bodyPr anchor="t">
            <a:normAutofit/>
          </a:bodyPr>
          <a:lstStyle/>
          <a:p>
            <a:r>
              <a:rPr lang="en-US" sz="2200"/>
              <a:t>Adaptive Trust Networks</a:t>
            </a:r>
          </a:p>
        </p:txBody>
      </p:sp>
      <p:pic>
        <p:nvPicPr>
          <p:cNvPr id="5" name="Content Placeholder 4" descr="technology and innovation concept">
            <a:extLst>
              <a:ext uri="{FF2B5EF4-FFF2-40B4-BE49-F238E27FC236}">
                <a16:creationId xmlns:a16="http://schemas.microsoft.com/office/drawing/2014/main" id="{B85E0CD2-1FA8-4DD7-86A4-FCD5F19F1F96}"/>
              </a:ext>
            </a:extLst>
          </p:cNvPr>
          <p:cNvPicPr>
            <a:picLocks noGrp="1" noChangeAspect="1"/>
          </p:cNvPicPr>
          <p:nvPr>
            <p:ph type="pic" sz="quarter" idx="13"/>
          </p:nvPr>
        </p:nvPicPr>
        <p:blipFill>
          <a:blip r:embed="rId3"/>
          <a:srcRect l="17882" r="13060"/>
          <a:stretch>
            <a:fillRect/>
          </a:stretch>
        </p:blipFill>
        <p:spPr>
          <a:xfrm>
            <a:off x="609599" y="1371600"/>
            <a:ext cx="5882642" cy="4876800"/>
          </a:xfrm>
        </p:spPr>
      </p:pic>
      <p:sp>
        <p:nvSpPr>
          <p:cNvPr id="4" name="Content Placeholder 3">
            <a:extLst>
              <a:ext uri="{FF2B5EF4-FFF2-40B4-BE49-F238E27FC236}">
                <a16:creationId xmlns:a16="http://schemas.microsoft.com/office/drawing/2014/main" id="{A3CAB231-DC92-EFE7-A04C-B52475D3DC1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06805" y="2362535"/>
            <a:ext cx="4675596" cy="3885866"/>
          </a:xfrm>
        </p:spPr>
        <p:txBody>
          <a:bodyPr>
            <a:normAutofit/>
          </a:bodyPr>
          <a:lstStyle/>
          <a:p>
            <a:pPr marL="0" indent="0">
              <a:lnSpc>
                <a:spcPct val="110000"/>
              </a:lnSpc>
              <a:spcBef>
                <a:spcPts val="2500"/>
              </a:spcBef>
              <a:buFont typeface="Arial" panose="020B0604020202020204" pitchFamily="34" charset="0"/>
              <a:buNone/>
            </a:pPr>
            <a:r>
              <a:rPr lang="en-US" b="1"/>
              <a:t>Dynamic Credibility Scoring</a:t>
            </a:r>
          </a:p>
          <a:p>
            <a:pPr marL="0" lvl="1" indent="0">
              <a:lnSpc>
                <a:spcPct val="110000"/>
              </a:lnSpc>
              <a:buFont typeface="Arial" panose="020B0604020202020204" pitchFamily="34" charset="0"/>
              <a:buNone/>
            </a:pPr>
            <a:r>
              <a:rPr lang="en-US"/>
              <a:t>ATNs assign trust scores based on expertise, accuracy, and consistency, updating scores over time with new outcomes.</a:t>
            </a:r>
          </a:p>
          <a:p>
            <a:pPr marL="0" indent="0">
              <a:lnSpc>
                <a:spcPct val="110000"/>
              </a:lnSpc>
              <a:spcBef>
                <a:spcPts val="2500"/>
              </a:spcBef>
              <a:buFont typeface="Arial" panose="020B0604020202020204" pitchFamily="34" charset="0"/>
              <a:buNone/>
            </a:pPr>
            <a:r>
              <a:rPr lang="en-US" b="1"/>
              <a:t>Self-Correcting Trust System</a:t>
            </a:r>
          </a:p>
          <a:p>
            <a:pPr marL="0" lvl="1" indent="0">
              <a:lnSpc>
                <a:spcPct val="110000"/>
              </a:lnSpc>
              <a:buFont typeface="Arial" panose="020B0604020202020204" pitchFamily="34" charset="0"/>
              <a:buNone/>
            </a:pPr>
            <a:r>
              <a:rPr lang="en-US"/>
              <a:t>The system rewards reliable inputs without silencing dissent, ensuring a balanced and adaptive governance model.</a:t>
            </a:r>
          </a:p>
          <a:p>
            <a:pPr marL="0" indent="0">
              <a:lnSpc>
                <a:spcPct val="110000"/>
              </a:lnSpc>
              <a:spcBef>
                <a:spcPts val="2500"/>
              </a:spcBef>
              <a:buFont typeface="Arial" panose="020B0604020202020204" pitchFamily="34" charset="0"/>
              <a:buNone/>
            </a:pPr>
            <a:r>
              <a:rPr lang="en-US" b="1"/>
              <a:t>Transparency and Accountability</a:t>
            </a:r>
          </a:p>
          <a:p>
            <a:pPr marL="0" lvl="1" indent="0">
              <a:lnSpc>
                <a:spcPct val="110000"/>
              </a:lnSpc>
              <a:buFont typeface="Arial" panose="020B0604020202020204" pitchFamily="34" charset="0"/>
              <a:buNone/>
            </a:pPr>
            <a:r>
              <a:rPr lang="en-US"/>
              <a:t>Making trust explicit reduces misinformation while welcoming new voices and evidence in decision-making.</a:t>
            </a:r>
          </a:p>
        </p:txBody>
      </p:sp>
    </p:spTree>
    <p:extLst>
      <p:ext uri="{BB962C8B-B14F-4D97-AF65-F5344CB8AC3E}">
        <p14:creationId xmlns:p14="http://schemas.microsoft.com/office/powerpoint/2010/main" val="3147641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18AB6-1DEA-EE89-1527-D851670F3BDB}"/>
              </a:ext>
            </a:extLst>
          </p:cNvPr>
          <p:cNvSpPr>
            <a:spLocks noGrp="1"/>
          </p:cNvSpPr>
          <p:nvPr>
            <p:ph type="ctrTitle"/>
          </p:nvPr>
        </p:nvSpPr>
        <p:spPr>
          <a:xfrm>
            <a:off x="612648" y="1417671"/>
            <a:ext cx="7909560" cy="4830729"/>
          </a:xfrm>
        </p:spPr>
        <p:txBody>
          <a:bodyPr anchor="b">
            <a:normAutofit/>
          </a:bodyPr>
          <a:lstStyle/>
          <a:p>
            <a:r>
              <a:rPr lang="en-US"/>
              <a:t>System Architecture</a:t>
            </a:r>
          </a:p>
        </p:txBody>
      </p:sp>
    </p:spTree>
    <p:extLst>
      <p:ext uri="{BB962C8B-B14F-4D97-AF65-F5344CB8AC3E}">
        <p14:creationId xmlns:p14="http://schemas.microsoft.com/office/powerpoint/2010/main" val="3449411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07C3-94F1-FF36-52DD-01E8D3D19ECD}"/>
              </a:ext>
            </a:extLst>
          </p:cNvPr>
          <p:cNvSpPr>
            <a:spLocks noGrp="1"/>
          </p:cNvSpPr>
          <p:nvPr>
            <p:ph type="title"/>
          </p:nvPr>
        </p:nvSpPr>
        <p:spPr>
          <a:xfrm>
            <a:off x="612646" y="1371600"/>
            <a:ext cx="7166187" cy="606886"/>
          </a:xfrm>
        </p:spPr>
        <p:txBody>
          <a:bodyPr anchor="t">
            <a:normAutofit/>
          </a:bodyPr>
          <a:lstStyle/>
          <a:p>
            <a:r>
              <a:rPr lang="en-US" sz="2000"/>
              <a:t>End-to-End Computational Governance Pipeline</a:t>
            </a:r>
          </a:p>
        </p:txBody>
      </p:sp>
      <p:sp>
        <p:nvSpPr>
          <p:cNvPr id="4" name="Content Placeholder 3">
            <a:extLst>
              <a:ext uri="{FF2B5EF4-FFF2-40B4-BE49-F238E27FC236}">
                <a16:creationId xmlns:a16="http://schemas.microsoft.com/office/drawing/2014/main" id="{A4D2DAAA-EF5C-DE5D-83A7-043B3683E73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362534"/>
            <a:ext cx="7166188" cy="3885866"/>
          </a:xfrm>
        </p:spPr>
        <p:txBody>
          <a:bodyPr>
            <a:normAutofit/>
          </a:bodyPr>
          <a:lstStyle/>
          <a:p>
            <a:pPr marL="0" indent="0">
              <a:lnSpc>
                <a:spcPct val="110000"/>
              </a:lnSpc>
              <a:spcBef>
                <a:spcPts val="2500"/>
              </a:spcBef>
              <a:buFont typeface="Arial" panose="020B0604020202020204" pitchFamily="34" charset="0"/>
              <a:buNone/>
            </a:pPr>
            <a:r>
              <a:rPr lang="en-US" sz="1200" b="1"/>
              <a:t>Quadratic Voting Input</a:t>
            </a:r>
          </a:p>
          <a:p>
            <a:pPr marL="0" lvl="1" indent="0">
              <a:lnSpc>
                <a:spcPct val="110000"/>
              </a:lnSpc>
              <a:buFont typeface="Arial" panose="020B0604020202020204" pitchFamily="34" charset="0"/>
              <a:buNone/>
            </a:pPr>
            <a:r>
              <a:rPr lang="en-US" sz="1200"/>
              <a:t>Citizens express preference direction and intensity using quadratic voting to influence decisions effectively.</a:t>
            </a:r>
          </a:p>
          <a:p>
            <a:pPr marL="0" indent="0">
              <a:lnSpc>
                <a:spcPct val="110000"/>
              </a:lnSpc>
              <a:spcBef>
                <a:spcPts val="2500"/>
              </a:spcBef>
              <a:buFont typeface="Arial" panose="020B0604020202020204" pitchFamily="34" charset="0"/>
              <a:buNone/>
            </a:pPr>
            <a:r>
              <a:rPr lang="en-US" sz="1200" b="1"/>
              <a:t>Adaptive Trust Network</a:t>
            </a:r>
          </a:p>
          <a:p>
            <a:pPr marL="0" lvl="1" indent="0">
              <a:lnSpc>
                <a:spcPct val="110000"/>
              </a:lnSpc>
              <a:buFont typeface="Arial" panose="020B0604020202020204" pitchFamily="34" charset="0"/>
              <a:buNone/>
            </a:pPr>
            <a:r>
              <a:rPr lang="en-US" sz="1200"/>
              <a:t>The trust network adapts influence based on user credibility and historical performance to weigh inputs fairly.</a:t>
            </a:r>
          </a:p>
          <a:p>
            <a:pPr marL="0" indent="0">
              <a:lnSpc>
                <a:spcPct val="110000"/>
              </a:lnSpc>
              <a:spcBef>
                <a:spcPts val="2500"/>
              </a:spcBef>
              <a:buFont typeface="Arial" panose="020B0604020202020204" pitchFamily="34" charset="0"/>
              <a:buNone/>
            </a:pPr>
            <a:r>
              <a:rPr lang="en-US" sz="1200" b="1"/>
              <a:t>Optimization Engine Output</a:t>
            </a:r>
          </a:p>
          <a:p>
            <a:pPr marL="0" lvl="1" indent="0">
              <a:lnSpc>
                <a:spcPct val="110000"/>
              </a:lnSpc>
              <a:buFont typeface="Arial" panose="020B0604020202020204" pitchFamily="34" charset="0"/>
              <a:buNone/>
            </a:pPr>
            <a:r>
              <a:rPr lang="en-US" sz="1200"/>
              <a:t>Optimizes trust-weighted preferences to produce ranked policy options maximizing utility under constraints.</a:t>
            </a:r>
          </a:p>
          <a:p>
            <a:pPr marL="0" indent="0">
              <a:lnSpc>
                <a:spcPct val="110000"/>
              </a:lnSpc>
              <a:spcBef>
                <a:spcPts val="2500"/>
              </a:spcBef>
              <a:buFont typeface="Arial" panose="020B0604020202020204" pitchFamily="34" charset="0"/>
              <a:buNone/>
            </a:pPr>
            <a:r>
              <a:rPr lang="en-US" sz="1200" b="1"/>
              <a:t>Transparent and Modular Design</a:t>
            </a:r>
          </a:p>
          <a:p>
            <a:pPr marL="0" lvl="1" indent="0">
              <a:lnSpc>
                <a:spcPct val="110000"/>
              </a:lnSpc>
              <a:buFont typeface="Arial" panose="020B0604020202020204" pitchFamily="34" charset="0"/>
              <a:buNone/>
            </a:pPr>
            <a:r>
              <a:rPr lang="en-US" sz="1200"/>
              <a:t>System transparency ensures inputs and results are explainable, facilitating modularity and continuous improvement.</a:t>
            </a:r>
          </a:p>
        </p:txBody>
      </p:sp>
      <p:pic>
        <p:nvPicPr>
          <p:cNvPr id="5" name="Content Placeholder 4" descr="Abstract chaotic background.">
            <a:extLst>
              <a:ext uri="{FF2B5EF4-FFF2-40B4-BE49-F238E27FC236}">
                <a16:creationId xmlns:a16="http://schemas.microsoft.com/office/drawing/2014/main" id="{CECDFDD2-3D36-454C-A4EC-142582B9B4EB}"/>
              </a:ext>
            </a:extLst>
          </p:cNvPr>
          <p:cNvPicPr>
            <a:picLocks noGrp="1" noChangeAspect="1"/>
          </p:cNvPicPr>
          <p:nvPr>
            <p:ph type="pic" sz="quarter" idx="13"/>
          </p:nvPr>
        </p:nvPicPr>
        <p:blipFill>
          <a:blip r:embed="rId3"/>
          <a:srcRect l="25749" r="27526" b="-1"/>
          <a:stretch>
            <a:fillRect/>
          </a:stretch>
        </p:blipFill>
        <p:spPr>
          <a:xfrm>
            <a:off x="8165593" y="1373529"/>
            <a:ext cx="3413760" cy="4876800"/>
          </a:xfrm>
        </p:spPr>
      </p:pic>
    </p:spTree>
    <p:extLst>
      <p:ext uri="{BB962C8B-B14F-4D97-AF65-F5344CB8AC3E}">
        <p14:creationId xmlns:p14="http://schemas.microsoft.com/office/powerpoint/2010/main" val="30543148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6208D-876B-2E10-4704-29B13317B2BC}"/>
              </a:ext>
            </a:extLst>
          </p:cNvPr>
          <p:cNvSpPr>
            <a:spLocks noGrp="1"/>
          </p:cNvSpPr>
          <p:nvPr>
            <p:ph type="ctrTitle"/>
          </p:nvPr>
        </p:nvSpPr>
        <p:spPr>
          <a:xfrm>
            <a:off x="612648" y="1417671"/>
            <a:ext cx="7909560" cy="4830729"/>
          </a:xfrm>
        </p:spPr>
        <p:txBody>
          <a:bodyPr anchor="b">
            <a:normAutofit/>
          </a:bodyPr>
          <a:lstStyle/>
          <a:p>
            <a:r>
              <a:rPr lang="en-US"/>
              <a:t>Empirical Evidence</a:t>
            </a:r>
          </a:p>
        </p:txBody>
      </p:sp>
    </p:spTree>
    <p:extLst>
      <p:ext uri="{BB962C8B-B14F-4D97-AF65-F5344CB8AC3E}">
        <p14:creationId xmlns:p14="http://schemas.microsoft.com/office/powerpoint/2010/main" val="3390073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45C33-49C3-C9E4-3B11-02062AAD7D4A}"/>
              </a:ext>
            </a:extLst>
          </p:cNvPr>
          <p:cNvSpPr>
            <a:spLocks noGrp="1"/>
          </p:cNvSpPr>
          <p:nvPr>
            <p:ph type="title"/>
          </p:nvPr>
        </p:nvSpPr>
        <p:spPr>
          <a:xfrm>
            <a:off x="609599" y="1371600"/>
            <a:ext cx="4675633" cy="990600"/>
          </a:xfrm>
        </p:spPr>
        <p:txBody>
          <a:bodyPr anchor="t">
            <a:normAutofit/>
          </a:bodyPr>
          <a:lstStyle/>
          <a:p>
            <a:r>
              <a:rPr lang="en-US"/>
              <a:t>Simulation Results: PLE vs. Majority Voting</a:t>
            </a:r>
          </a:p>
        </p:txBody>
      </p:sp>
      <p:pic>
        <p:nvPicPr>
          <p:cNvPr id="5" name="Content Placeholder 4" descr="A man holds a spyglass as he looks toward his investment goal.">
            <a:extLst>
              <a:ext uri="{FF2B5EF4-FFF2-40B4-BE49-F238E27FC236}">
                <a16:creationId xmlns:a16="http://schemas.microsoft.com/office/drawing/2014/main" id="{A75BF1FC-23CB-49F0-8208-6020A3BACB34}"/>
              </a:ext>
            </a:extLst>
          </p:cNvPr>
          <p:cNvPicPr>
            <a:picLocks noGrp="1" noChangeAspect="1"/>
          </p:cNvPicPr>
          <p:nvPr>
            <p:ph type="pic" sz="quarter" idx="13"/>
          </p:nvPr>
        </p:nvPicPr>
        <p:blipFill>
          <a:blip r:embed="rId3"/>
          <a:srcRect l="14143" r="37461" b="1"/>
          <a:stretch>
            <a:fillRect/>
          </a:stretch>
        </p:blipFill>
        <p:spPr>
          <a:xfrm>
            <a:off x="609600" y="2746246"/>
            <a:ext cx="4675632" cy="3502153"/>
          </a:xfrm>
        </p:spPr>
      </p:pic>
      <p:sp>
        <p:nvSpPr>
          <p:cNvPr id="4" name="Content Placeholder 3">
            <a:extLst>
              <a:ext uri="{FF2B5EF4-FFF2-40B4-BE49-F238E27FC236}">
                <a16:creationId xmlns:a16="http://schemas.microsoft.com/office/drawing/2014/main" id="{5A231477-248F-C4AE-8E2C-19B8B75F411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Simulation Setup</a:t>
            </a:r>
          </a:p>
          <a:p>
            <a:pPr marL="0" lvl="1" indent="0">
              <a:buFont typeface="Arial" panose="020B0604020202020204" pitchFamily="34" charset="0"/>
              <a:buNone/>
            </a:pPr>
            <a:r>
              <a:rPr lang="en-US"/>
              <a:t>The simulation compares majority voting with the Pareto Legislative Engine using two groups with distinct utility peaks.</a:t>
            </a:r>
          </a:p>
          <a:p>
            <a:pPr marL="0" indent="0">
              <a:spcBef>
                <a:spcPts val="2500"/>
              </a:spcBef>
              <a:buFont typeface="Arial" panose="020B0604020202020204" pitchFamily="34" charset="0"/>
              <a:buNone/>
            </a:pPr>
            <a:r>
              <a:rPr lang="en-US" b="1"/>
              <a:t>Majority Voting Outcome</a:t>
            </a:r>
          </a:p>
          <a:p>
            <a:pPr marL="0" lvl="1" indent="0">
              <a:buFont typeface="Arial" panose="020B0604020202020204" pitchFamily="34" charset="0"/>
              <a:buNone/>
            </a:pPr>
            <a:r>
              <a:rPr lang="en-US"/>
              <a:t>Majority voting chooses the option favored by the larger group but leaves potential utility unrealized.</a:t>
            </a:r>
          </a:p>
          <a:p>
            <a:pPr marL="0" indent="0">
              <a:spcBef>
                <a:spcPts val="2500"/>
              </a:spcBef>
              <a:buFont typeface="Arial" panose="020B0604020202020204" pitchFamily="34" charset="0"/>
              <a:buNone/>
            </a:pPr>
            <a:r>
              <a:rPr lang="en-US" b="1"/>
              <a:t>PLE Compromise Advantage</a:t>
            </a:r>
          </a:p>
          <a:p>
            <a:pPr marL="0" lvl="1" indent="0">
              <a:buFont typeface="Arial" panose="020B0604020202020204" pitchFamily="34" charset="0"/>
              <a:buNone/>
            </a:pPr>
            <a:r>
              <a:rPr lang="en-US"/>
              <a:t>PLE identifies a compromise maximizing combined utility, producing better societal outcomes than majority rule.</a:t>
            </a:r>
          </a:p>
          <a:p>
            <a:pPr marL="0" indent="0">
              <a:spcBef>
                <a:spcPts val="2500"/>
              </a:spcBef>
              <a:buFont typeface="Arial" panose="020B0604020202020204" pitchFamily="34" charset="0"/>
              <a:buNone/>
            </a:pPr>
            <a:r>
              <a:rPr lang="en-US" b="1"/>
              <a:t>Significance of Results</a:t>
            </a:r>
          </a:p>
          <a:p>
            <a:pPr marL="0" lvl="1" indent="0">
              <a:buFont typeface="Arial" panose="020B0604020202020204" pitchFamily="34" charset="0"/>
              <a:buNone/>
            </a:pPr>
            <a:r>
              <a:rPr lang="en-US"/>
              <a:t>Results show PLE outperforms traditional methods, offering insights into improving decision-making in politics.</a:t>
            </a:r>
          </a:p>
        </p:txBody>
      </p:sp>
    </p:spTree>
    <p:extLst>
      <p:ext uri="{BB962C8B-B14F-4D97-AF65-F5344CB8AC3E}">
        <p14:creationId xmlns:p14="http://schemas.microsoft.com/office/powerpoint/2010/main" val="22762833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6806-BAB2-5032-6AC2-FCC511659AF6}"/>
              </a:ext>
            </a:extLst>
          </p:cNvPr>
          <p:cNvSpPr>
            <a:spLocks noGrp="1"/>
          </p:cNvSpPr>
          <p:nvPr>
            <p:ph type="ctrTitle"/>
          </p:nvPr>
        </p:nvSpPr>
        <p:spPr/>
        <p:txBody>
          <a:bodyPr/>
          <a:lstStyle/>
          <a:p>
            <a:r>
              <a:rPr lang="en-US"/>
              <a:t>Impact and Implications</a:t>
            </a:r>
          </a:p>
        </p:txBody>
      </p:sp>
    </p:spTree>
    <p:extLst>
      <p:ext uri="{BB962C8B-B14F-4D97-AF65-F5344CB8AC3E}">
        <p14:creationId xmlns:p14="http://schemas.microsoft.com/office/powerpoint/2010/main" val="1754145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DEFB-E6C1-96AB-4CAA-74B6C9AAB0D7}"/>
              </a:ext>
            </a:extLst>
          </p:cNvPr>
          <p:cNvSpPr>
            <a:spLocks noGrp="1"/>
          </p:cNvSpPr>
          <p:nvPr>
            <p:ph type="title"/>
          </p:nvPr>
        </p:nvSpPr>
        <p:spPr>
          <a:xfrm>
            <a:off x="609599" y="1371600"/>
            <a:ext cx="4675633" cy="990600"/>
          </a:xfrm>
        </p:spPr>
        <p:txBody>
          <a:bodyPr anchor="t">
            <a:normAutofit/>
          </a:bodyPr>
          <a:lstStyle/>
          <a:p>
            <a:r>
              <a:rPr lang="en-US"/>
              <a:t>Reducing Polarization and Improving Decisions</a:t>
            </a:r>
          </a:p>
        </p:txBody>
      </p:sp>
      <p:pic>
        <p:nvPicPr>
          <p:cNvPr id="5" name="Content Placeholder 4" descr="Aerial view looking down on a diverse group of entrepreneurs meeting around a conference table. The small business team is discussing marketing opportunities. They are brainstorming while looking at a strategy map. Cups of coffee, markers and a tablet computer are visible on the table.">
            <a:extLst>
              <a:ext uri="{FF2B5EF4-FFF2-40B4-BE49-F238E27FC236}">
                <a16:creationId xmlns:a16="http://schemas.microsoft.com/office/drawing/2014/main" id="{C3B15B0A-86BC-4D53-8274-E84FB42C7909}"/>
              </a:ext>
            </a:extLst>
          </p:cNvPr>
          <p:cNvPicPr>
            <a:picLocks noGrp="1" noChangeAspect="1"/>
          </p:cNvPicPr>
          <p:nvPr>
            <p:ph type="pic" sz="quarter" idx="13"/>
          </p:nvPr>
        </p:nvPicPr>
        <p:blipFill>
          <a:blip r:embed="rId3"/>
          <a:srcRect l="17955" r="6946" b="-1"/>
          <a:stretch>
            <a:fillRect/>
          </a:stretch>
        </p:blipFill>
        <p:spPr>
          <a:xfrm>
            <a:off x="609600" y="2746246"/>
            <a:ext cx="4675632" cy="3502153"/>
          </a:xfrm>
        </p:spPr>
      </p:pic>
      <p:sp>
        <p:nvSpPr>
          <p:cNvPr id="4" name="Content Placeholder 3">
            <a:extLst>
              <a:ext uri="{FF2B5EF4-FFF2-40B4-BE49-F238E27FC236}">
                <a16:creationId xmlns:a16="http://schemas.microsoft.com/office/drawing/2014/main" id="{936EE672-1CF6-7507-8A6D-FCB3DB76768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Reducing Political Polarization</a:t>
            </a:r>
          </a:p>
          <a:p>
            <a:pPr marL="0" lvl="1" indent="0">
              <a:buFont typeface="Arial" panose="020B0604020202020204" pitchFamily="34" charset="0"/>
              <a:buNone/>
            </a:pPr>
            <a:r>
              <a:rPr lang="en-US"/>
              <a:t>The system shifts focus from winning to optimizing, discouraging extreme views and encouraging compromise.</a:t>
            </a:r>
          </a:p>
          <a:p>
            <a:pPr marL="0" indent="0">
              <a:spcBef>
                <a:spcPts val="2500"/>
              </a:spcBef>
              <a:buFont typeface="Arial" panose="020B0604020202020204" pitchFamily="34" charset="0"/>
              <a:buNone/>
            </a:pPr>
            <a:r>
              <a:rPr lang="en-US" b="1"/>
              <a:t>Enhancing Trust in Institutions</a:t>
            </a:r>
          </a:p>
          <a:p>
            <a:pPr marL="0" lvl="1" indent="0">
              <a:buFont typeface="Arial" panose="020B0604020202020204" pitchFamily="34" charset="0"/>
              <a:buNone/>
            </a:pPr>
            <a:r>
              <a:rPr lang="en-US"/>
              <a:t>Clearer constituent signals increase policymakers' responsiveness, boosting citizen confidence in governance.</a:t>
            </a:r>
          </a:p>
          <a:p>
            <a:pPr marL="0" indent="0">
              <a:spcBef>
                <a:spcPts val="2500"/>
              </a:spcBef>
              <a:buFont typeface="Arial" panose="020B0604020202020204" pitchFamily="34" charset="0"/>
              <a:buNone/>
            </a:pPr>
            <a:r>
              <a:rPr lang="en-US" b="1"/>
              <a:t>Scalable Decision Framework</a:t>
            </a:r>
          </a:p>
          <a:p>
            <a:pPr marL="0" lvl="1" indent="0">
              <a:buFont typeface="Arial" panose="020B0604020202020204" pitchFamily="34" charset="0"/>
              <a:buNone/>
            </a:pPr>
            <a:r>
              <a:rPr lang="en-US"/>
              <a:t>The adaptable system can be implemented from local councils to national legislatures and diverse political contexts.</a:t>
            </a:r>
          </a:p>
          <a:p>
            <a:pPr marL="0" indent="0">
              <a:spcBef>
                <a:spcPts val="2500"/>
              </a:spcBef>
              <a:buFont typeface="Arial" panose="020B0604020202020204" pitchFamily="34" charset="0"/>
              <a:buNone/>
            </a:pPr>
            <a:r>
              <a:rPr lang="en-US" b="1"/>
              <a:t>Cross-Context Application</a:t>
            </a:r>
          </a:p>
          <a:p>
            <a:pPr marL="0" lvl="1" indent="0">
              <a:buFont typeface="Arial" panose="020B0604020202020204" pitchFamily="34" charset="0"/>
              <a:buNone/>
            </a:pPr>
            <a:r>
              <a:rPr lang="en-US"/>
              <a:t>The framework benefits organizations, cooperatives, and international bodies facing conflicting interests.</a:t>
            </a:r>
          </a:p>
        </p:txBody>
      </p:sp>
    </p:spTree>
    <p:extLst>
      <p:ext uri="{BB962C8B-B14F-4D97-AF65-F5344CB8AC3E}">
        <p14:creationId xmlns:p14="http://schemas.microsoft.com/office/powerpoint/2010/main" val="37741732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4A7D4-9F0E-F24D-BA32-3EE17E5A3078}"/>
              </a:ext>
            </a:extLst>
          </p:cNvPr>
          <p:cNvSpPr>
            <a:spLocks noGrp="1"/>
          </p:cNvSpPr>
          <p:nvPr>
            <p:ph type="ctrTitle"/>
          </p:nvPr>
        </p:nvSpPr>
        <p:spPr/>
        <p:txBody>
          <a:bodyPr/>
          <a:lstStyle/>
          <a:p>
            <a:r>
              <a:rPr lang="en-US"/>
              <a:t>Conclusion</a:t>
            </a:r>
          </a:p>
        </p:txBody>
      </p:sp>
    </p:spTree>
    <p:extLst>
      <p:ext uri="{BB962C8B-B14F-4D97-AF65-F5344CB8AC3E}">
        <p14:creationId xmlns:p14="http://schemas.microsoft.com/office/powerpoint/2010/main" val="2826053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5AC8-F299-19A2-1C71-9E55B8F9B7C1}"/>
              </a:ext>
            </a:extLst>
          </p:cNvPr>
          <p:cNvSpPr>
            <a:spLocks noGrp="1"/>
          </p:cNvSpPr>
          <p:nvPr>
            <p:ph type="title"/>
          </p:nvPr>
        </p:nvSpPr>
        <p:spPr>
          <a:xfrm>
            <a:off x="609599" y="1371600"/>
            <a:ext cx="4675633" cy="990600"/>
          </a:xfrm>
        </p:spPr>
        <p:txBody>
          <a:bodyPr anchor="t">
            <a:normAutofit/>
          </a:bodyPr>
          <a:lstStyle/>
          <a:p>
            <a:r>
              <a:rPr lang="en-US"/>
              <a:t>Closing: Making Democracy Measurable</a:t>
            </a:r>
          </a:p>
        </p:txBody>
      </p:sp>
      <p:pic>
        <p:nvPicPr>
          <p:cNvPr id="5" name="Content Placeholder 4" descr="Rules for compliance with policies business">
            <a:extLst>
              <a:ext uri="{FF2B5EF4-FFF2-40B4-BE49-F238E27FC236}">
                <a16:creationId xmlns:a16="http://schemas.microsoft.com/office/drawing/2014/main" id="{44748F50-5565-42B3-AEE0-C7A3A7DBD7E5}"/>
              </a:ext>
            </a:extLst>
          </p:cNvPr>
          <p:cNvPicPr>
            <a:picLocks noGrp="1" noChangeAspect="1"/>
          </p:cNvPicPr>
          <p:nvPr>
            <p:ph type="pic" sz="quarter" idx="13"/>
          </p:nvPr>
        </p:nvPicPr>
        <p:blipFill>
          <a:blip r:embed="rId3"/>
          <a:srcRect r="10886" b="2"/>
          <a:stretch>
            <a:fillRect/>
          </a:stretch>
        </p:blipFill>
        <p:spPr>
          <a:xfrm>
            <a:off x="609600" y="2746246"/>
            <a:ext cx="4675632" cy="3502153"/>
          </a:xfrm>
        </p:spPr>
      </p:pic>
      <p:sp>
        <p:nvSpPr>
          <p:cNvPr id="4" name="Content Placeholder 3">
            <a:extLst>
              <a:ext uri="{FF2B5EF4-FFF2-40B4-BE49-F238E27FC236}">
                <a16:creationId xmlns:a16="http://schemas.microsoft.com/office/drawing/2014/main" id="{95506B7F-AAEE-A405-9B09-33128BF6DD7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12502" y="1371600"/>
            <a:ext cx="5869899" cy="4876800"/>
          </a:xfrm>
        </p:spPr>
        <p:txBody>
          <a:bodyPr>
            <a:normAutofit/>
          </a:bodyPr>
          <a:lstStyle/>
          <a:p>
            <a:pPr marL="0" indent="0">
              <a:spcBef>
                <a:spcPts val="2500"/>
              </a:spcBef>
              <a:buFont typeface="Arial" panose="020B0604020202020204" pitchFamily="34" charset="0"/>
              <a:buNone/>
            </a:pPr>
            <a:r>
              <a:rPr lang="en-US" b="1"/>
              <a:t>Enhancing Democracy</a:t>
            </a:r>
          </a:p>
          <a:p>
            <a:pPr marL="0" lvl="1" indent="0">
              <a:buFont typeface="Arial" panose="020B0604020202020204" pitchFamily="34" charset="0"/>
              <a:buNone/>
            </a:pPr>
            <a:r>
              <a:rPr lang="en-US"/>
              <a:t>Making democracy measurable and transparent strengthens governance through data-driven decision-making tools.</a:t>
            </a:r>
          </a:p>
          <a:p>
            <a:pPr marL="0" indent="0">
              <a:spcBef>
                <a:spcPts val="2500"/>
              </a:spcBef>
              <a:buFont typeface="Arial" panose="020B0604020202020204" pitchFamily="34" charset="0"/>
              <a:buNone/>
            </a:pPr>
            <a:r>
              <a:rPr lang="en-US" b="1"/>
              <a:t>Innovative Framework</a:t>
            </a:r>
          </a:p>
          <a:p>
            <a:pPr marL="0" lvl="1" indent="0">
              <a:buFont typeface="Arial" panose="020B0604020202020204" pitchFamily="34" charset="0"/>
              <a:buNone/>
            </a:pPr>
            <a:r>
              <a:rPr lang="en-US"/>
              <a:t>The Pareto Legislative Engine and Adaptive Trust Networks address structural flaws in democratic processes.</a:t>
            </a:r>
          </a:p>
          <a:p>
            <a:pPr marL="0" indent="0">
              <a:spcBef>
                <a:spcPts val="2500"/>
              </a:spcBef>
              <a:buFont typeface="Arial" panose="020B0604020202020204" pitchFamily="34" charset="0"/>
              <a:buNone/>
            </a:pPr>
            <a:r>
              <a:rPr lang="en-US" b="1"/>
              <a:t>Augmenting Human Judgment</a:t>
            </a:r>
          </a:p>
          <a:p>
            <a:pPr marL="0" lvl="1" indent="0">
              <a:buFont typeface="Arial" panose="020B0604020202020204" pitchFamily="34" charset="0"/>
              <a:buNone/>
            </a:pPr>
            <a:r>
              <a:rPr lang="en-US"/>
              <a:t>This system supports human decision-making by clarifying trade-offs and revealing optimal policy options.</a:t>
            </a:r>
          </a:p>
          <a:p>
            <a:pPr marL="0" indent="0">
              <a:spcBef>
                <a:spcPts val="2500"/>
              </a:spcBef>
              <a:buFont typeface="Arial" panose="020B0604020202020204" pitchFamily="34" charset="0"/>
              <a:buNone/>
            </a:pPr>
            <a:r>
              <a:rPr lang="en-US" b="1"/>
              <a:t>Future Research Invitation</a:t>
            </a:r>
          </a:p>
          <a:p>
            <a:pPr marL="0" lvl="1" indent="0">
              <a:buFont typeface="Arial" panose="020B0604020202020204" pitchFamily="34" charset="0"/>
              <a:buNone/>
            </a:pPr>
            <a:r>
              <a:rPr lang="en-US"/>
              <a:t>The project invites further experimentation and dialogue, laying foundation for next-gen democratic systems.</a:t>
            </a:r>
          </a:p>
        </p:txBody>
      </p:sp>
    </p:spTree>
    <p:extLst>
      <p:ext uri="{BB962C8B-B14F-4D97-AF65-F5344CB8AC3E}">
        <p14:creationId xmlns:p14="http://schemas.microsoft.com/office/powerpoint/2010/main" val="39317906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Monochrome blac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77">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Art Copilot_win32_v2" id="{C4441793-7F42-4E6F-AB6E-2BF31AF6ECEE}" vid="{417A8EDD-AC54-49AE-B230-98EE57C80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19</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Monochrome black</vt:lpstr>
      <vt:lpstr>Computational Governance: A Judging Pitch for Optimizing Democracy</vt:lpstr>
      <vt:lpstr>Opening and Context</vt:lpstr>
      <vt:lpstr>Computational Governance: Framing the Core Idea</vt:lpstr>
      <vt:lpstr>The Core Problem</vt:lpstr>
      <vt:lpstr>Why Traditional Voting Systems Fail</vt:lpstr>
      <vt:lpstr>Conceptual Shift</vt:lpstr>
      <vt:lpstr>Reframing Governance as an Optimization Problem</vt:lpstr>
      <vt:lpstr>Solution Part I</vt:lpstr>
      <vt:lpstr>The Pareto Legislative Engine</vt:lpstr>
      <vt:lpstr>Solution Part II</vt:lpstr>
      <vt:lpstr>Adaptive Trust Networks</vt:lpstr>
      <vt:lpstr>System Architecture</vt:lpstr>
      <vt:lpstr>End-to-End Computational Governance Pipeline</vt:lpstr>
      <vt:lpstr>Empirical Evidence</vt:lpstr>
      <vt:lpstr>Simulation Results: PLE vs. Majority Voting</vt:lpstr>
      <vt:lpstr>Impact and Implications</vt:lpstr>
      <vt:lpstr>Reducing Polarization and Improving Decisions</vt:lpstr>
      <vt:lpstr>Conclusion</vt:lpstr>
      <vt:lpstr>Closing: Making Democracy Measurable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ramanjanappa.ravikumar@optum.com</dc:creator>
  <cp:lastModifiedBy>ramanjanappa.ravikumar@optum.com</cp:lastModifiedBy>
  <cp:revision>3</cp:revision>
  <dcterms:modified xsi:type="dcterms:W3CDTF">2026-05-24T18:10:23Z</dcterms:modified>
</cp:coreProperties>
</file>